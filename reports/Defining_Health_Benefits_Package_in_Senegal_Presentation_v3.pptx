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working session, not a formal presentation - I'd like to walk through the method end to end, be explicit about what's solid and what's still provisional, and agree on priorities for the next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follow the exact same order as the written note. I've also added a section specifically on data quality and what remains provisional, since I think that's as important to align on as the results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rather than new information for this room: the burden is concentrated, and so is intervention coverage, which is the right design choice. But I want to flag explicitly that six top-20 causes, 13% of the total burden, currently have no matched intervention on their main cause - that's a gap worth naming, independently of anything cost-effectiveness tells us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builds on the previous one: the league table answers 'is it worth it', optimization answers 'can we deliver it', and DCEA answers 'who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from 389, four sequential filters bring us to 95. At a reference threshold of 485 dollars per DALY averted, 85 of these are individually cost-effective.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Interventions are ranked by net health benefit - DALYs averted minus the cost converted into DALY-equivalent terms - so the ranking reflects each intervention's actual contribution to population health, not just its unit cost-effectiveness.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solves jointly what the league table can't: whether the resources exist to deliver everything that's individually cost-effective, and if not, which resource is the actual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is clear even before we have Senegal-specific staffing numbers: it isn't one resource that binds, it's three at once - pharmacy staff, mental-health staff, and the consumables budget all saturate near 100% together, while doctors and nurses retain real slack. I want to be explicit that the workforce data behind this is still a reference-country dataset - the pattern is informative, the exact magnitude is not yet locally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budget alone barely changes the total. Workforce constraints are what really bite, cutting the package roughly in half; task-shifting recovers some of that. I want to flag on this slide that the 68-intervention base here is smaller than the full 95-intervention league table, because it's limited to what the reference workforce dataset could match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DCEA asks a different question from the league table: not how much health, but who benefits. The Atkinson index lets us summarize that distribution in a single, comparable number per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intervention, pediatric malaria treatment, drives most of both the benefit and the inequality result. That's a real finding, but it also means the equity conclusion is currently resting on a narrow base. I also want to be upfront that the baseline health distribution behind this whole analysis is still a simplified proxy - the full method needs DHS sibling-history data we don't have processed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a moment on process, not just results. We found and corrected a real data error during QA. More importantly, the pipeline now tracks why any intervention is in or out at every single stage, which means a future reviewer - or a future me - can audit any number end to end. One smaller inconsistency is still open and I'm tracking it rather than letting it sit unflagged.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bringing this to the room, I stress-tested the headline conclusions against the main modeling choices. They hold in direction. That doesn't replace real Senegal data, but it tells us the conclusions aren't an artifact of an arbitrary parameter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cost-effectiveness alone isn't enough, several resources bind together rather than one single bottleneck, and efficiency and equity don't always agree - which is a decision for the group, not something the model should decide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ordered this by expected impact on the conclusions, not by ease of access. Workforce data comes first because it drives the single biggest result in the optimization section. On the DCEA point, I'd genuinely value the chance to validate the baseline construction against how it's done at the source, rather than from the published method alone - if that's ever a natural opening, I'd take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picture. I'd like to hear which of the priorities on the previous slide matters most to you, and whether either of you has a lead on any of the open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468880"/>
            <a:ext cx="10911535" cy="914400"/>
          </a:xfrm>
          <a:prstGeom prst="rect">
            <a:avLst/>
          </a:prstGeom>
          <a:noFill/>
          <a:ln/>
        </p:spPr>
        <p:txBody>
          <a:bodyPr wrap="square" rtlCol="0" anchor="ctr"/>
          <a:lstStyle/>
          <a:p>
            <a:pPr algn="l" indent="0" marL="0">
              <a:buNone/>
            </a:pPr>
            <a:r>
              <a:rPr lang="en-US" sz="3400" b="1" dirty="0">
                <a:solidFill>
                  <a:srgbClr val="1A1A1A"/>
                </a:solidFill>
                <a:latin typeface="Arial" pitchFamily="34" charset="0"/>
                <a:ea typeface="Arial" pitchFamily="34" charset="-122"/>
                <a:cs typeface="Arial" pitchFamily="34" charset="-120"/>
              </a:rPr>
              <a:t>Senegal HBP</a:t>
            </a:r>
            <a:endParaRPr lang="en-US" sz="3400" dirty="0"/>
          </a:p>
        </p:txBody>
      </p:sp>
      <p:sp>
        <p:nvSpPr>
          <p:cNvPr id="3" name="Text 1"/>
          <p:cNvSpPr/>
          <p:nvPr/>
        </p:nvSpPr>
        <p:spPr>
          <a:xfrm>
            <a:off x="640080" y="3291840"/>
            <a:ext cx="10911535" cy="548640"/>
          </a:xfrm>
          <a:prstGeom prst="rect">
            <a:avLst/>
          </a:prstGeom>
          <a:noFill/>
          <a:ln/>
        </p:spPr>
        <p:txBody>
          <a:bodyPr wrap="square" rtlCol="0" anchor="ctr"/>
          <a:lstStyle/>
          <a:p>
            <a:pPr algn="l" indent="0" marL="0">
              <a:buNone/>
            </a:pPr>
            <a:r>
              <a:rPr lang="en-US" sz="1700" dirty="0">
                <a:solidFill>
                  <a:srgbClr val="6B6B6B"/>
                </a:solidFill>
                <a:latin typeface="Arial" pitchFamily="34" charset="0"/>
                <a:ea typeface="Arial" pitchFamily="34" charset="-122"/>
                <a:cs typeface="Arial" pitchFamily="34" charset="-120"/>
              </a:rPr>
              <a:t>Methodology and results - working session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AGENDA</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Same thread as the written note: burden, cost-effectiveness, optimization, equity.</a:t>
            </a:r>
            <a:endParaRPr lang="en-US" sz="2300" dirty="0"/>
          </a:p>
        </p:txBody>
      </p:sp>
      <p:sp>
        <p:nvSpPr>
          <p:cNvPr id="4" name="Text 2"/>
          <p:cNvSpPr/>
          <p:nvPr/>
        </p:nvSpPr>
        <p:spPr>
          <a:xfrm>
            <a:off x="640080" y="1920240"/>
            <a:ext cx="9601200" cy="3840480"/>
          </a:xfrm>
          <a:prstGeom prst="rect">
            <a:avLst/>
          </a:prstGeom>
          <a:noFill/>
          <a:ln/>
        </p:spPr>
        <p:txBody>
          <a:bodyPr wrap="square" rtlCol="0" anchor="t"/>
          <a:lstStyle/>
          <a:p>
            <a:pPr algn="l" marL="203200" indent="-2032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Disease burden and what the intervention list actually covers</a:t>
            </a:r>
            <a:endParaRPr lang="en-US" sz="1600" dirty="0"/>
          </a:p>
          <a:p>
            <a:pPr algn="l" marL="203200" indent="-2032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Cost-effectiveness ranking (the league table)</a:t>
            </a:r>
            <a:endParaRPr lang="en-US" sz="1600" dirty="0"/>
          </a:p>
          <a:p>
            <a:pPr algn="l" marL="203200" indent="-2032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Constrained optimization (budget and workforce)</a:t>
            </a:r>
            <a:endParaRPr lang="en-US" sz="1600" dirty="0"/>
          </a:p>
          <a:p>
            <a:pPr algn="l" marL="203200" indent="-2032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Distributional analysis (DCEA)</a:t>
            </a:r>
            <a:endParaRPr lang="en-US" sz="1600" dirty="0"/>
          </a:p>
          <a:p>
            <a:pPr algn="l" marL="203200" indent="-2032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Data quality, traceability, and what's still provisional</a:t>
            </a:r>
            <a:endParaRPr lang="en-US" sz="1600" dirty="0"/>
          </a:p>
          <a:p>
            <a:pPr algn="l" marL="203200" indent="-2032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Takeaways and what I'd prioritize next</a:t>
            </a:r>
            <a:endParaRPr lang="en-US" sz="1600" dirty="0"/>
          </a:p>
        </p:txBody>
      </p:sp>
      <p:sp>
        <p:nvSpPr>
          <p:cNvPr id="5"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DISEASE BURDEN</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Interventions concentrate where the burden is highest, but six major causes remain uncovered.</a:t>
            </a:r>
            <a:endParaRPr lang="en-US" sz="2300" dirty="0"/>
          </a:p>
        </p:txBody>
      </p:sp>
      <p:sp>
        <p:nvSpPr>
          <p:cNvPr id="4" name="Text 2"/>
          <p:cNvSpPr/>
          <p:nvPr/>
        </p:nvSpPr>
        <p:spPr>
          <a:xfrm>
            <a:off x="640080" y="1920240"/>
            <a:ext cx="10911535" cy="4206240"/>
          </a:xfrm>
          <a:prstGeom prst="rect">
            <a:avLst/>
          </a:prstGeom>
          <a:noFill/>
          <a:ln/>
        </p:spPr>
        <p:txBody>
          <a:bodyPr wrap="square" rtlCol="0" anchor="t"/>
          <a:lstStyle/>
          <a:p>
            <a:pPr algn="l" marL="203200" indent="-203200">
              <a:spcAft>
                <a:spcPts val="1600"/>
              </a:spcAft>
              <a:buSzPct val="100000"/>
              <a:buChar char="–"/>
            </a:pPr>
            <a:r>
              <a:rPr lang="en-US" sz="1550" dirty="0">
                <a:solidFill>
                  <a:srgbClr val="1A1A1A"/>
                </a:solidFill>
                <a:latin typeface="Arial" pitchFamily="34" charset="0"/>
                <a:ea typeface="Arial" pitchFamily="34" charset="-122"/>
                <a:cs typeface="Arial" pitchFamily="34" charset="-120"/>
              </a:rPr>
              <a:t>6.8M DALYs total (GBD 2023); top 20 causes account for 63% of all DALYs, led by neonatal disorders (16%)</a:t>
            </a:r>
            <a:endParaRPr lang="en-US" sz="1550" dirty="0"/>
          </a:p>
          <a:p>
            <a:pPr algn="l" marL="203200" indent="-203200">
              <a:spcAft>
                <a:spcPts val="1600"/>
              </a:spcAft>
              <a:buSzPct val="100000"/>
              <a:buChar char="–"/>
            </a:pPr>
            <a:r>
              <a:rPr lang="en-US" sz="1550" dirty="0">
                <a:solidFill>
                  <a:srgbClr val="1A1A1A"/>
                </a:solidFill>
                <a:latin typeface="Arial" pitchFamily="34" charset="0"/>
                <a:ea typeface="Arial" pitchFamily="34" charset="-122"/>
                <a:cs typeface="Arial" pitchFamily="34" charset="-120"/>
              </a:rPr>
              <a:t>389 candidate interventions; 382 matched to a primary GBD cause, covering 60 of 176 distinct causes</a:t>
            </a:r>
            <a:endParaRPr lang="en-US" sz="1550" dirty="0"/>
          </a:p>
          <a:p>
            <a:pPr algn="l" marL="203200" indent="-203200">
              <a:spcAft>
                <a:spcPts val="1600"/>
              </a:spcAft>
              <a:buSzPct val="100000"/>
              <a:buChar char="–"/>
            </a:pPr>
            <a:r>
              <a:rPr lang="en-US" sz="1550" dirty="0">
                <a:solidFill>
                  <a:srgbClr val="1A1A1A"/>
                </a:solidFill>
                <a:latin typeface="Arial" pitchFamily="34" charset="0"/>
                <a:ea typeface="Arial" pitchFamily="34" charset="-122"/>
                <a:cs typeface="Arial" pitchFamily="34" charset="-120"/>
              </a:rPr>
              <a:t>Coverage is deliberately concentrated on high-burden causes: 14 of the top 20 have a matched intervention, against 46 of the remaining 156</a:t>
            </a:r>
            <a:endParaRPr lang="en-US" sz="1550" dirty="0"/>
          </a:p>
          <a:p>
            <a:pPr algn="l" marL="203200" indent="-203200">
              <a:spcAft>
                <a:spcPts val="1600"/>
              </a:spcAft>
              <a:buSzPct val="100000"/>
              <a:buChar char="–"/>
            </a:pPr>
            <a:r>
              <a:rPr lang="en-US" sz="1550" dirty="0">
                <a:solidFill>
                  <a:srgbClr val="1A1A1A"/>
                </a:solidFill>
                <a:latin typeface="Arial" pitchFamily="34" charset="0"/>
                <a:ea typeface="Arial" pitchFamily="34" charset="-122"/>
                <a:cs typeface="Arial" pitchFamily="34" charset="-120"/>
              </a:rPr>
              <a:t>Six top-20 causes still have no matched intervention - together 13% of total DALYs (birth defects, road injuries, cirrhosis, meningitis, drowning, hemoglobinopathies)</a:t>
            </a:r>
            <a:endParaRPr lang="en-US" sz="1550" dirty="0"/>
          </a:p>
        </p:txBody>
      </p:sp>
      <p:sp>
        <p:nvSpPr>
          <p:cNvPr id="5"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METHOD</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Three linked steps: is it worth it, can we deliver it, and who benefits.</a:t>
            </a:r>
            <a:endParaRPr lang="en-US" sz="2300" dirty="0"/>
          </a:p>
        </p:txBody>
      </p:sp>
      <p:sp>
        <p:nvSpPr>
          <p:cNvPr id="4" name="Text 2"/>
          <p:cNvSpPr/>
          <p:nvPr/>
        </p:nvSpPr>
        <p:spPr>
          <a:xfrm>
            <a:off x="640080" y="2011680"/>
            <a:ext cx="10911535" cy="3840480"/>
          </a:xfrm>
          <a:prstGeom prst="rect">
            <a:avLst/>
          </a:prstGeom>
          <a:noFill/>
          <a:ln/>
        </p:spPr>
        <p:txBody>
          <a:bodyPr wrap="square" rtlCol="0" anchor="t"/>
          <a:lstStyle/>
          <a:p>
            <a:pPr algn="l" marL="203200" indent="-203200">
              <a:spcAft>
                <a:spcPts val="1800"/>
              </a:spcAft>
              <a:buSzPct val="100000"/>
              <a:buChar char="–"/>
            </a:pPr>
            <a:r>
              <a:rPr lang="en-US" sz="1700" dirty="0">
                <a:solidFill>
                  <a:srgbClr val="1A1A1A"/>
                </a:solidFill>
                <a:latin typeface="Arial" pitchFamily="34" charset="0"/>
                <a:ea typeface="Arial" pitchFamily="34" charset="-122"/>
                <a:cs typeface="Arial" pitchFamily="34" charset="-120"/>
              </a:rPr>
              <a:t>League table: rank interventions by cost-effectiveness ratio against a reference threshold</a:t>
            </a:r>
            <a:endParaRPr lang="en-US" sz="1700" dirty="0"/>
          </a:p>
          <a:p>
            <a:pPr algn="l" marL="203200" indent="-203200">
              <a:spcAft>
                <a:spcPts val="1800"/>
              </a:spcAft>
              <a:buSzPct val="100000"/>
              <a:buChar char="–"/>
            </a:pPr>
            <a:r>
              <a:rPr lang="en-US" sz="1700" dirty="0">
                <a:solidFill>
                  <a:srgbClr val="1A1A1A"/>
                </a:solidFill>
                <a:latin typeface="Arial" pitchFamily="34" charset="0"/>
                <a:ea typeface="Arial" pitchFamily="34" charset="-122"/>
                <a:cs typeface="Arial" pitchFamily="34" charset="-120"/>
              </a:rPr>
              <a:t>Optimization: choose each intervention's coverage level under budget and workforce constraints</a:t>
            </a:r>
            <a:endParaRPr lang="en-US" sz="1700" dirty="0"/>
          </a:p>
          <a:p>
            <a:pPr algn="l" marL="203200" indent="-203200">
              <a:spcAft>
                <a:spcPts val="1800"/>
              </a:spcAft>
              <a:buSzPct val="100000"/>
              <a:buChar char="–"/>
            </a:pPr>
            <a:r>
              <a:rPr lang="en-US" sz="1700" dirty="0">
                <a:solidFill>
                  <a:srgbClr val="1A1A1A"/>
                </a:solidFill>
                <a:latin typeface="Arial" pitchFamily="34" charset="0"/>
                <a:ea typeface="Arial" pitchFamily="34" charset="-122"/>
                <a:cs typeface="Arial" pitchFamily="34" charset="-120"/>
              </a:rPr>
              <a:t>DCEA: check how the resulting package's benefit is distributed by wealth quintile and residence</a:t>
            </a:r>
            <a:endParaRPr lang="en-US" sz="1700" dirty="0"/>
          </a:p>
        </p:txBody>
      </p:sp>
      <p:sp>
        <p:nvSpPr>
          <p:cNvPr id="5"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COST-EFFECTIVENESS</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Four sequential filters narrow 389 candidates to a 95-intervention league table.</a:t>
            </a:r>
            <a:endParaRPr lang="en-US" sz="2300" dirty="0"/>
          </a:p>
        </p:txBody>
      </p:sp>
      <p:pic>
        <p:nvPicPr>
          <p:cNvPr id="4" name="Image 0" descr="/tmp/claude-0/-home-user-Tuto-test/c5af62e6-580a-50f7-99b9-aad76c71bea2/scratchpad/pptx/funnel_flow.png">    </p:cNvPr>
          <p:cNvPicPr>
            <a:picLocks noChangeAspect="1"/>
          </p:cNvPicPr>
          <p:nvPr/>
        </p:nvPicPr>
        <p:blipFill>
          <a:blip r:embed="rId1"/>
          <a:stretch>
            <a:fillRect/>
          </a:stretch>
        </p:blipFill>
        <p:spPr>
          <a:xfrm>
            <a:off x="640080" y="1874520"/>
            <a:ext cx="6035040" cy="3840480"/>
          </a:xfrm>
          <a:prstGeom prst="rect">
            <a:avLst/>
          </a:prstGeom>
        </p:spPr>
      </p:pic>
      <p:sp>
        <p:nvSpPr>
          <p:cNvPr id="5" name="Text 2"/>
          <p:cNvSpPr/>
          <p:nvPr/>
        </p:nvSpPr>
        <p:spPr>
          <a:xfrm>
            <a:off x="7040880" y="1965960"/>
            <a:ext cx="4572000" cy="3840480"/>
          </a:xfrm>
          <a:prstGeom prst="rect">
            <a:avLst/>
          </a:prstGeom>
          <a:noFill/>
          <a:ln/>
        </p:spPr>
        <p:txBody>
          <a:bodyPr wrap="square" rtlCol="0" anchor="t"/>
          <a:lstStyle/>
          <a:p>
            <a:pPr algn="l" marL="203200" indent="-203200">
              <a:spcAft>
                <a:spcPts val="1000"/>
              </a:spcAft>
              <a:buSzPct val="100000"/>
              <a:buChar char="–"/>
            </a:pPr>
            <a:r>
              <a:rPr lang="en-US" sz="1450" dirty="0">
                <a:solidFill>
                  <a:srgbClr val="1A1A1A"/>
                </a:solidFill>
                <a:latin typeface="Arial" pitchFamily="34" charset="0"/>
                <a:ea typeface="Arial" pitchFamily="34" charset="-122"/>
                <a:cs typeface="Arial" pitchFamily="34" charset="-120"/>
              </a:rPr>
              <a:t>Linked to a top-20 DALY cause: 141 remain</a:t>
            </a:r>
            <a:endParaRPr lang="en-US" sz="1450" dirty="0"/>
          </a:p>
          <a:p>
            <a:pPr algn="l" marL="203200" indent="-203200">
              <a:spcAft>
                <a:spcPts val="1000"/>
              </a:spcAft>
              <a:buSzPct val="100000"/>
              <a:buChar char="–"/>
            </a:pPr>
            <a:r>
              <a:rPr lang="en-US" sz="1450" dirty="0">
                <a:solidFill>
                  <a:srgbClr val="1A1A1A"/>
                </a:solidFill>
                <a:latin typeface="Arial" pitchFamily="34" charset="0"/>
                <a:ea typeface="Arial" pitchFamily="34" charset="-122"/>
                <a:cs typeface="Arial" pitchFamily="34" charset="-120"/>
              </a:rPr>
              <a:t>Unit cost available: still 141</a:t>
            </a:r>
            <a:endParaRPr lang="en-US" sz="1450" dirty="0"/>
          </a:p>
          <a:p>
            <a:pPr algn="l" marL="203200" indent="-203200">
              <a:spcAft>
                <a:spcPts val="1000"/>
              </a:spcAft>
              <a:buSzPct val="100000"/>
              <a:buChar char="–"/>
            </a:pPr>
            <a:r>
              <a:rPr lang="en-US" sz="1450" dirty="0">
                <a:solidFill>
                  <a:srgbClr val="1A1A1A"/>
                </a:solidFill>
                <a:latin typeface="Arial" pitchFamily="34" charset="0"/>
                <a:ea typeface="Arial" pitchFamily="34" charset="-122"/>
                <a:cs typeface="Arial" pitchFamily="34" charset="-120"/>
              </a:rPr>
              <a:t>Effect measured (DALYs/patient): 97 remain</a:t>
            </a:r>
            <a:endParaRPr lang="en-US" sz="1450" dirty="0"/>
          </a:p>
          <a:p>
            <a:pPr algn="l" marL="203200" indent="-203200">
              <a:spcAft>
                <a:spcPts val="1000"/>
              </a:spcAft>
              <a:buSzPct val="100000"/>
              <a:buChar char="–"/>
            </a:pPr>
            <a:r>
              <a:rPr lang="en-US" sz="1450" dirty="0">
                <a:solidFill>
                  <a:srgbClr val="1A1A1A"/>
                </a:solidFill>
                <a:latin typeface="Arial" pitchFamily="34" charset="0"/>
                <a:ea typeface="Arial" pitchFamily="34" charset="-122"/>
                <a:cs typeface="Arial" pitchFamily="34" charset="-120"/>
              </a:rPr>
              <a:t>Case-volume data available: 95 final</a:t>
            </a:r>
            <a:endParaRPr lang="en-US" sz="1450" dirty="0"/>
          </a:p>
          <a:p>
            <a:pPr algn="l" marL="203200" indent="-203200">
              <a:spcAft>
                <a:spcPts val="1000"/>
              </a:spcAft>
              <a:buSzPct val="100000"/>
              <a:buChar char="–"/>
            </a:pPr>
            <a:r>
              <a:rPr lang="en-US" sz="1450" dirty="0">
                <a:solidFill>
                  <a:srgbClr val="1A1A1A"/>
                </a:solidFill>
                <a:latin typeface="Arial" pitchFamily="34" charset="0"/>
                <a:ea typeface="Arial" pitchFamily="34" charset="-122"/>
                <a:cs typeface="Arial" pitchFamily="34" charset="-120"/>
              </a:rPr>
              <a:t>85 of 95 are cost-effective at $485/DALY</a:t>
            </a:r>
            <a:endParaRPr lang="en-US" sz="1450" dirty="0"/>
          </a:p>
        </p:txBody>
      </p:sp>
      <p:sp>
        <p:nvSpPr>
          <p:cNvPr id="6"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COST-EFFECTIVENESS</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Ranking by net health benefit, not the cost-effectiveness ratio alone.</a:t>
            </a:r>
            <a:endParaRPr lang="en-US" sz="2300" dirty="0"/>
          </a:p>
        </p:txBody>
      </p:sp>
      <p:pic>
        <p:nvPicPr>
          <p:cNvPr id="4" name="Image 0" descr="/tmp/claude-0/-home-user-Tuto-test/c5af62e6-580a-50f7-99b9-aad76c71bea2/scratchpad/pptx/fig6_net_benefit_ranked.png">    </p:cNvPr>
          <p:cNvPicPr>
            <a:picLocks noChangeAspect="1"/>
          </p:cNvPicPr>
          <p:nvPr/>
        </p:nvPicPr>
        <p:blipFill>
          <a:blip r:embed="rId1"/>
          <a:stretch>
            <a:fillRect/>
          </a:stretch>
        </p:blipFill>
        <p:spPr>
          <a:xfrm>
            <a:off x="2163928" y="1874520"/>
            <a:ext cx="7863840" cy="4297680"/>
          </a:xfrm>
          <a:prstGeom prst="rect">
            <a:avLst/>
          </a:prstGeom>
        </p:spPr>
      </p:pic>
      <p:sp>
        <p:nvSpPr>
          <p:cNvPr id="5" name="Text 2"/>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CONSTRAINED OPTIMIZATION</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Being cost-effective does not guarantee it can be financed and staffed at the same time.</a:t>
            </a:r>
            <a:endParaRPr lang="en-US" sz="2300" dirty="0"/>
          </a:p>
        </p:txBody>
      </p:sp>
      <p:sp>
        <p:nvSpPr>
          <p:cNvPr id="4" name="Text 2"/>
          <p:cNvSpPr/>
          <p:nvPr/>
        </p:nvSpPr>
        <p:spPr>
          <a:xfrm>
            <a:off x="640080" y="2011680"/>
            <a:ext cx="10911535" cy="3840480"/>
          </a:xfrm>
          <a:prstGeom prst="rect">
            <a:avLst/>
          </a:prstGeom>
          <a:noFill/>
          <a:ln/>
        </p:spPr>
        <p:txBody>
          <a:bodyPr wrap="square" rtlCol="0" anchor="t"/>
          <a:lstStyle/>
          <a:p>
            <a:pPr algn="l" marL="203200" indent="-203200">
              <a:spcAft>
                <a:spcPts val="1600"/>
              </a:spcAft>
              <a:buSzPct val="100000"/>
              <a:buChar char="–"/>
            </a:pPr>
            <a:r>
              <a:rPr lang="en-US" sz="1650" dirty="0">
                <a:solidFill>
                  <a:srgbClr val="1A1A1A"/>
                </a:solidFill>
                <a:latin typeface="Arial" pitchFamily="34" charset="0"/>
                <a:ea typeface="Arial" pitchFamily="34" charset="-122"/>
                <a:cs typeface="Arial" pitchFamily="34" charset="-120"/>
              </a:rPr>
              <a:t>A linear program chooses each intervention's coverage level to maximize total net health benefit</a:t>
            </a:r>
            <a:endParaRPr lang="en-US" sz="1650" dirty="0"/>
          </a:p>
          <a:p>
            <a:pPr algn="l" marL="203200" indent="-203200">
              <a:spcAft>
                <a:spcPts val="1600"/>
              </a:spcAft>
              <a:buSzPct val="100000"/>
              <a:buChar char="–"/>
            </a:pPr>
            <a:r>
              <a:rPr lang="en-US" sz="1650" dirty="0">
                <a:solidFill>
                  <a:srgbClr val="1A1A1A"/>
                </a:solidFill>
                <a:latin typeface="Arial" pitchFamily="34" charset="0"/>
                <a:ea typeface="Arial" pitchFamily="34" charset="-122"/>
                <a:cs typeface="Arial" pitchFamily="34" charset="-120"/>
              </a:rPr>
              <a:t>Two constraints: the consumables budget, and workforce time by cadre</a:t>
            </a:r>
            <a:endParaRPr lang="en-US" sz="1650" dirty="0"/>
          </a:p>
          <a:p>
            <a:pPr algn="l" marL="203200" indent="-203200">
              <a:spcAft>
                <a:spcPts val="1600"/>
              </a:spcAft>
              <a:buSzPct val="100000"/>
              <a:buChar char="–"/>
            </a:pPr>
            <a:r>
              <a:rPr lang="en-US" sz="1650" dirty="0">
                <a:solidFill>
                  <a:srgbClr val="1A1A1A"/>
                </a:solidFill>
                <a:latin typeface="Arial" pitchFamily="34" charset="0"/>
                <a:ea typeface="Arial" pitchFamily="34" charset="-122"/>
                <a:cs typeface="Arial" pitchFamily="34" charset="-120"/>
              </a:rPr>
              <a:t>The model identifies exactly which resource binds, and by how much</a:t>
            </a:r>
            <a:endParaRPr lang="en-US" sz="1650" dirty="0"/>
          </a:p>
        </p:txBody>
      </p:sp>
      <p:sp>
        <p:nvSpPr>
          <p:cNvPr id="5"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CONSTRAINED OPTIMIZATION  -  RESULTS</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Pharmacy staff, mental-health staff, and the budget bind together - doctors and nurses have slack.</a:t>
            </a:r>
            <a:endParaRPr lang="en-US" sz="2300" dirty="0"/>
          </a:p>
        </p:txBody>
      </p:sp>
      <p:pic>
        <p:nvPicPr>
          <p:cNvPr id="4" name="Image 0" descr="/tmp/claude-0/-home-user-Tuto-test/c5af62e6-580a-50f7-99b9-aad76c71bea2/scratchpad/pptx/optimization_fig0_resource_gap.png">    </p:cNvPr>
          <p:cNvPicPr>
            <a:picLocks noChangeAspect="1"/>
          </p:cNvPicPr>
          <p:nvPr/>
        </p:nvPicPr>
        <p:blipFill>
          <a:blip r:embed="rId1"/>
          <a:stretch>
            <a:fillRect/>
          </a:stretch>
        </p:blipFill>
        <p:spPr>
          <a:xfrm>
            <a:off x="914400" y="1828800"/>
            <a:ext cx="3566160" cy="4160520"/>
          </a:xfrm>
          <a:prstGeom prst="rect">
            <a:avLst/>
          </a:prstGeom>
        </p:spPr>
      </p:pic>
      <p:sp>
        <p:nvSpPr>
          <p:cNvPr id="5" name="Text 2"/>
          <p:cNvSpPr/>
          <p:nvPr/>
        </p:nvSpPr>
        <p:spPr>
          <a:xfrm>
            <a:off x="5120640" y="1920240"/>
            <a:ext cx="6400800" cy="4206240"/>
          </a:xfrm>
          <a:prstGeom prst="rect">
            <a:avLst/>
          </a:prstGeom>
          <a:noFill/>
          <a:ln/>
        </p:spPr>
        <p:txBody>
          <a:bodyPr wrap="square" rtlCol="0" anchor="t"/>
          <a:lstStyle/>
          <a:p>
            <a:pPr algn="l" marL="203200" indent="-2032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Without any constraint, pharmaceutical-staff need would exceed 2x current capacity (214%); mental-health need would exceed it too (101%)</a:t>
            </a:r>
            <a:endParaRPr lang="en-US" sz="1400" dirty="0"/>
          </a:p>
          <a:p>
            <a:pPr algn="l" marL="203200" indent="-2032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Once applied, pharmacy, mental health, and the consumables budget all saturate near 100% at the same time</a:t>
            </a:r>
            <a:endParaRPr lang="en-US" sz="1400" dirty="0"/>
          </a:p>
          <a:p>
            <a:pPr algn="l" marL="203200" indent="-2032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Doctors (49%) and nurses (22%) keep real slack - they are not the binding resource</a:t>
            </a:r>
            <a:endParaRPr lang="en-US" sz="1400" dirty="0"/>
          </a:p>
          <a:p>
            <a:pPr algn="l" marL="203200" indent="-203200">
              <a:spcAft>
                <a:spcPts val="1200"/>
              </a:spcAft>
              <a:buSzPct val="100000"/>
              <a:buChar char="–"/>
            </a:pPr>
            <a:r>
              <a:rPr lang="en-US" sz="1400" dirty="0">
                <a:solidFill>
                  <a:srgbClr val="1A1A1A"/>
                </a:solidFill>
                <a:latin typeface="Arial" pitchFamily="34" charset="0"/>
                <a:ea typeface="Arial" pitchFamily="34" charset="-122"/>
                <a:cs typeface="Arial" pitchFamily="34" charset="-120"/>
              </a:rPr>
              <a:t>Caveat: workforce time-per-case and capacity figures are drawn from a reference-country dataset, not yet Senegal-specific</a:t>
            </a:r>
            <a:endParaRPr lang="en-US" sz="1400" dirty="0"/>
          </a:p>
        </p:txBody>
      </p:sp>
      <p:sp>
        <p:nvSpPr>
          <p:cNvPr id="6"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CONSTRAINED OPTIMIZATION  -  RESULTS</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Four scenarios make the budget-versus-workforce trade-off explicit.</a:t>
            </a:r>
            <a:endParaRPr lang="en-US" sz="2300" dirty="0"/>
          </a:p>
        </p:txBody>
      </p:sp>
      <p:sp>
        <p:nvSpPr>
          <p:cNvPr id="4" name="Shape 2"/>
          <p:cNvSpPr/>
          <p:nvPr/>
        </p:nvSpPr>
        <p:spPr>
          <a:xfrm>
            <a:off x="640080" y="1965960"/>
            <a:ext cx="5760720" cy="457200"/>
          </a:xfrm>
          <a:prstGeom prst="rect">
            <a:avLst/>
          </a:prstGeom>
          <a:solidFill>
            <a:srgbClr val="F2F2F5"/>
          </a:solidFill>
          <a:ln w="9525">
            <a:solidFill>
              <a:srgbClr val="D9D9D9"/>
            </a:solidFill>
            <a:prstDash val="solid"/>
          </a:ln>
        </p:spPr>
      </p:sp>
      <p:sp>
        <p:nvSpPr>
          <p:cNvPr id="5" name="Text 3"/>
          <p:cNvSpPr/>
          <p:nvPr/>
        </p:nvSpPr>
        <p:spPr>
          <a:xfrm>
            <a:off x="749808" y="1965960"/>
            <a:ext cx="5541264" cy="457200"/>
          </a:xfrm>
          <a:prstGeom prst="rect">
            <a:avLst/>
          </a:prstGeom>
          <a:noFill/>
          <a:ln/>
        </p:spPr>
        <p:txBody>
          <a:bodyPr wrap="square" rtlCol="0" anchor="ctr"/>
          <a:lstStyle/>
          <a:p>
            <a:pPr indent="0" marL="0">
              <a:buNone/>
            </a:pPr>
            <a:r>
              <a:rPr lang="en-US" sz="1250" b="1" dirty="0">
                <a:solidFill>
                  <a:srgbClr val="1A1A1A"/>
                </a:solidFill>
                <a:latin typeface="Arial" pitchFamily="34" charset="0"/>
                <a:ea typeface="Arial" pitchFamily="34" charset="-122"/>
                <a:cs typeface="Arial" pitchFamily="34" charset="-120"/>
              </a:rPr>
              <a:t>Scenario</a:t>
            </a:r>
            <a:endParaRPr lang="en-US" sz="1250" dirty="0"/>
          </a:p>
        </p:txBody>
      </p:sp>
      <p:sp>
        <p:nvSpPr>
          <p:cNvPr id="6" name="Shape 4"/>
          <p:cNvSpPr/>
          <p:nvPr/>
        </p:nvSpPr>
        <p:spPr>
          <a:xfrm>
            <a:off x="6400800" y="1965960"/>
            <a:ext cx="2743200" cy="457200"/>
          </a:xfrm>
          <a:prstGeom prst="rect">
            <a:avLst/>
          </a:prstGeom>
          <a:solidFill>
            <a:srgbClr val="F2F2F5"/>
          </a:solidFill>
          <a:ln w="9525">
            <a:solidFill>
              <a:srgbClr val="D9D9D9"/>
            </a:solidFill>
            <a:prstDash val="solid"/>
          </a:ln>
        </p:spPr>
      </p:sp>
      <p:sp>
        <p:nvSpPr>
          <p:cNvPr id="7" name="Text 5"/>
          <p:cNvSpPr/>
          <p:nvPr/>
        </p:nvSpPr>
        <p:spPr>
          <a:xfrm>
            <a:off x="6510528" y="1965960"/>
            <a:ext cx="2523744" cy="457200"/>
          </a:xfrm>
          <a:prstGeom prst="rect">
            <a:avLst/>
          </a:prstGeom>
          <a:noFill/>
          <a:ln/>
        </p:spPr>
        <p:txBody>
          <a:bodyPr wrap="square" rtlCol="0" anchor="ctr"/>
          <a:lstStyle/>
          <a:p>
            <a:pPr indent="0" marL="0">
              <a:buNone/>
            </a:pPr>
            <a:r>
              <a:rPr lang="en-US" sz="1250" b="1" dirty="0">
                <a:solidFill>
                  <a:srgbClr val="1A1A1A"/>
                </a:solidFill>
                <a:latin typeface="Arial" pitchFamily="34" charset="0"/>
                <a:ea typeface="Arial" pitchFamily="34" charset="-122"/>
                <a:cs typeface="Arial" pitchFamily="34" charset="-120"/>
              </a:rPr>
              <a:t>Interventions</a:t>
            </a:r>
            <a:endParaRPr lang="en-US" sz="1250" dirty="0"/>
          </a:p>
        </p:txBody>
      </p:sp>
      <p:sp>
        <p:nvSpPr>
          <p:cNvPr id="8" name="Shape 6"/>
          <p:cNvSpPr/>
          <p:nvPr/>
        </p:nvSpPr>
        <p:spPr>
          <a:xfrm>
            <a:off x="9144000" y="1965960"/>
            <a:ext cx="2286000" cy="457200"/>
          </a:xfrm>
          <a:prstGeom prst="rect">
            <a:avLst/>
          </a:prstGeom>
          <a:solidFill>
            <a:srgbClr val="F2F2F5"/>
          </a:solidFill>
          <a:ln w="9525">
            <a:solidFill>
              <a:srgbClr val="D9D9D9"/>
            </a:solidFill>
            <a:prstDash val="solid"/>
          </a:ln>
        </p:spPr>
      </p:sp>
      <p:sp>
        <p:nvSpPr>
          <p:cNvPr id="9" name="Text 7"/>
          <p:cNvSpPr/>
          <p:nvPr/>
        </p:nvSpPr>
        <p:spPr>
          <a:xfrm>
            <a:off x="9253728" y="1965960"/>
            <a:ext cx="2066544" cy="457200"/>
          </a:xfrm>
          <a:prstGeom prst="rect">
            <a:avLst/>
          </a:prstGeom>
          <a:noFill/>
          <a:ln/>
        </p:spPr>
        <p:txBody>
          <a:bodyPr wrap="square" rtlCol="0" anchor="ctr"/>
          <a:lstStyle/>
          <a:p>
            <a:pPr indent="0" marL="0">
              <a:buNone/>
            </a:pPr>
            <a:r>
              <a:rPr lang="en-US" sz="1250" b="1" dirty="0">
                <a:solidFill>
                  <a:srgbClr val="1A1A1A"/>
                </a:solidFill>
                <a:latin typeface="Arial" pitchFamily="34" charset="0"/>
                <a:ea typeface="Arial" pitchFamily="34" charset="-122"/>
                <a:cs typeface="Arial" pitchFamily="34" charset="-120"/>
              </a:rPr>
              <a:t>Net DALYs</a:t>
            </a:r>
            <a:endParaRPr lang="en-US" sz="1250" dirty="0"/>
          </a:p>
        </p:txBody>
      </p:sp>
      <p:sp>
        <p:nvSpPr>
          <p:cNvPr id="10" name="Shape 8"/>
          <p:cNvSpPr/>
          <p:nvPr/>
        </p:nvSpPr>
        <p:spPr>
          <a:xfrm>
            <a:off x="640080" y="2423160"/>
            <a:ext cx="5760720" cy="457200"/>
          </a:xfrm>
          <a:prstGeom prst="rect">
            <a:avLst/>
          </a:prstGeom>
          <a:solidFill>
            <a:srgbClr val="FFFFFF"/>
          </a:solidFill>
          <a:ln w="9525">
            <a:solidFill>
              <a:srgbClr val="D9D9D9"/>
            </a:solidFill>
            <a:prstDash val="solid"/>
          </a:ln>
        </p:spPr>
      </p:sp>
      <p:sp>
        <p:nvSpPr>
          <p:cNvPr id="11" name="Text 9"/>
          <p:cNvSpPr/>
          <p:nvPr/>
        </p:nvSpPr>
        <p:spPr>
          <a:xfrm>
            <a:off x="749808" y="2423160"/>
            <a:ext cx="554126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No constraint (CET only)</a:t>
            </a:r>
            <a:endParaRPr lang="en-US" sz="1250" dirty="0"/>
          </a:p>
        </p:txBody>
      </p:sp>
      <p:sp>
        <p:nvSpPr>
          <p:cNvPr id="12" name="Shape 10"/>
          <p:cNvSpPr/>
          <p:nvPr/>
        </p:nvSpPr>
        <p:spPr>
          <a:xfrm>
            <a:off x="6400800" y="2423160"/>
            <a:ext cx="2743200" cy="457200"/>
          </a:xfrm>
          <a:prstGeom prst="rect">
            <a:avLst/>
          </a:prstGeom>
          <a:solidFill>
            <a:srgbClr val="FFFFFF"/>
          </a:solidFill>
          <a:ln w="9525">
            <a:solidFill>
              <a:srgbClr val="D9D9D9"/>
            </a:solidFill>
            <a:prstDash val="solid"/>
          </a:ln>
        </p:spPr>
      </p:sp>
      <p:sp>
        <p:nvSpPr>
          <p:cNvPr id="13" name="Text 11"/>
          <p:cNvSpPr/>
          <p:nvPr/>
        </p:nvSpPr>
        <p:spPr>
          <a:xfrm>
            <a:off x="6510528" y="2423160"/>
            <a:ext cx="252374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77 / 95</a:t>
            </a:r>
            <a:endParaRPr lang="en-US" sz="1250" dirty="0"/>
          </a:p>
        </p:txBody>
      </p:sp>
      <p:sp>
        <p:nvSpPr>
          <p:cNvPr id="14" name="Shape 12"/>
          <p:cNvSpPr/>
          <p:nvPr/>
        </p:nvSpPr>
        <p:spPr>
          <a:xfrm>
            <a:off x="9144000" y="2423160"/>
            <a:ext cx="2286000" cy="457200"/>
          </a:xfrm>
          <a:prstGeom prst="rect">
            <a:avLst/>
          </a:prstGeom>
          <a:solidFill>
            <a:srgbClr val="FFFFFF"/>
          </a:solidFill>
          <a:ln w="9525">
            <a:solidFill>
              <a:srgbClr val="D9D9D9"/>
            </a:solidFill>
            <a:prstDash val="solid"/>
          </a:ln>
        </p:spPr>
      </p:sp>
      <p:sp>
        <p:nvSpPr>
          <p:cNvPr id="15" name="Text 13"/>
          <p:cNvSpPr/>
          <p:nvPr/>
        </p:nvSpPr>
        <p:spPr>
          <a:xfrm>
            <a:off x="9253728" y="2423160"/>
            <a:ext cx="206654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81.6 M</a:t>
            </a:r>
            <a:endParaRPr lang="en-US" sz="1250" dirty="0"/>
          </a:p>
        </p:txBody>
      </p:sp>
      <p:sp>
        <p:nvSpPr>
          <p:cNvPr id="16" name="Shape 14"/>
          <p:cNvSpPr/>
          <p:nvPr/>
        </p:nvSpPr>
        <p:spPr>
          <a:xfrm>
            <a:off x="640080" y="2880360"/>
            <a:ext cx="5760720" cy="457200"/>
          </a:xfrm>
          <a:prstGeom prst="rect">
            <a:avLst/>
          </a:prstGeom>
          <a:solidFill>
            <a:srgbClr val="FFFFFF"/>
          </a:solidFill>
          <a:ln w="9525">
            <a:solidFill>
              <a:srgbClr val="D9D9D9"/>
            </a:solidFill>
            <a:prstDash val="solid"/>
          </a:ln>
        </p:spPr>
      </p:sp>
      <p:sp>
        <p:nvSpPr>
          <p:cNvPr id="17" name="Text 15"/>
          <p:cNvSpPr/>
          <p:nvPr/>
        </p:nvSpPr>
        <p:spPr>
          <a:xfrm>
            <a:off x="749808" y="2880360"/>
            <a:ext cx="554126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Budget only ($120M)</a:t>
            </a:r>
            <a:endParaRPr lang="en-US" sz="1250" dirty="0"/>
          </a:p>
        </p:txBody>
      </p:sp>
      <p:sp>
        <p:nvSpPr>
          <p:cNvPr id="18" name="Shape 16"/>
          <p:cNvSpPr/>
          <p:nvPr/>
        </p:nvSpPr>
        <p:spPr>
          <a:xfrm>
            <a:off x="6400800" y="2880360"/>
            <a:ext cx="2743200" cy="457200"/>
          </a:xfrm>
          <a:prstGeom prst="rect">
            <a:avLst/>
          </a:prstGeom>
          <a:solidFill>
            <a:srgbClr val="FFFFFF"/>
          </a:solidFill>
          <a:ln w="9525">
            <a:solidFill>
              <a:srgbClr val="D9D9D9"/>
            </a:solidFill>
            <a:prstDash val="solid"/>
          </a:ln>
        </p:spPr>
      </p:sp>
      <p:sp>
        <p:nvSpPr>
          <p:cNvPr id="19" name="Text 17"/>
          <p:cNvSpPr/>
          <p:nvPr/>
        </p:nvSpPr>
        <p:spPr>
          <a:xfrm>
            <a:off x="6510528" y="2880360"/>
            <a:ext cx="252374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75 / 85</a:t>
            </a:r>
            <a:endParaRPr lang="en-US" sz="1250" dirty="0"/>
          </a:p>
        </p:txBody>
      </p:sp>
      <p:sp>
        <p:nvSpPr>
          <p:cNvPr id="20" name="Shape 18"/>
          <p:cNvSpPr/>
          <p:nvPr/>
        </p:nvSpPr>
        <p:spPr>
          <a:xfrm>
            <a:off x="9144000" y="2880360"/>
            <a:ext cx="2286000" cy="457200"/>
          </a:xfrm>
          <a:prstGeom prst="rect">
            <a:avLst/>
          </a:prstGeom>
          <a:solidFill>
            <a:srgbClr val="FFFFFF"/>
          </a:solidFill>
          <a:ln w="9525">
            <a:solidFill>
              <a:srgbClr val="D9D9D9"/>
            </a:solidFill>
            <a:prstDash val="solid"/>
          </a:ln>
        </p:spPr>
      </p:sp>
      <p:sp>
        <p:nvSpPr>
          <p:cNvPr id="21" name="Text 19"/>
          <p:cNvSpPr/>
          <p:nvPr/>
        </p:nvSpPr>
        <p:spPr>
          <a:xfrm>
            <a:off x="9253728" y="2880360"/>
            <a:ext cx="206654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71.7 M</a:t>
            </a:r>
            <a:endParaRPr lang="en-US" sz="1250" dirty="0"/>
          </a:p>
        </p:txBody>
      </p:sp>
      <p:sp>
        <p:nvSpPr>
          <p:cNvPr id="22" name="Shape 20"/>
          <p:cNvSpPr/>
          <p:nvPr/>
        </p:nvSpPr>
        <p:spPr>
          <a:xfrm>
            <a:off x="640080" y="3337560"/>
            <a:ext cx="5760720" cy="457200"/>
          </a:xfrm>
          <a:prstGeom prst="rect">
            <a:avLst/>
          </a:prstGeom>
          <a:solidFill>
            <a:srgbClr val="FFFFFF"/>
          </a:solidFill>
          <a:ln w="9525">
            <a:solidFill>
              <a:srgbClr val="D9D9D9"/>
            </a:solidFill>
            <a:prstDash val="solid"/>
          </a:ln>
        </p:spPr>
      </p:sp>
      <p:sp>
        <p:nvSpPr>
          <p:cNvPr id="23" name="Text 21"/>
          <p:cNvSpPr/>
          <p:nvPr/>
        </p:nvSpPr>
        <p:spPr>
          <a:xfrm>
            <a:off x="749808" y="3337560"/>
            <a:ext cx="554126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Base (budget + workforce)</a:t>
            </a:r>
            <a:endParaRPr lang="en-US" sz="1250" dirty="0"/>
          </a:p>
        </p:txBody>
      </p:sp>
      <p:sp>
        <p:nvSpPr>
          <p:cNvPr id="24" name="Shape 22"/>
          <p:cNvSpPr/>
          <p:nvPr/>
        </p:nvSpPr>
        <p:spPr>
          <a:xfrm>
            <a:off x="6400800" y="3337560"/>
            <a:ext cx="2743200" cy="457200"/>
          </a:xfrm>
          <a:prstGeom prst="rect">
            <a:avLst/>
          </a:prstGeom>
          <a:solidFill>
            <a:srgbClr val="FFFFFF"/>
          </a:solidFill>
          <a:ln w="9525">
            <a:solidFill>
              <a:srgbClr val="D9D9D9"/>
            </a:solidFill>
            <a:prstDash val="solid"/>
          </a:ln>
        </p:spPr>
      </p:sp>
      <p:sp>
        <p:nvSpPr>
          <p:cNvPr id="25" name="Text 23"/>
          <p:cNvSpPr/>
          <p:nvPr/>
        </p:nvSpPr>
        <p:spPr>
          <a:xfrm>
            <a:off x="6510528" y="3337560"/>
            <a:ext cx="252374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46 / 68</a:t>
            </a:r>
            <a:endParaRPr lang="en-US" sz="1250" dirty="0"/>
          </a:p>
        </p:txBody>
      </p:sp>
      <p:sp>
        <p:nvSpPr>
          <p:cNvPr id="26" name="Shape 24"/>
          <p:cNvSpPr/>
          <p:nvPr/>
        </p:nvSpPr>
        <p:spPr>
          <a:xfrm>
            <a:off x="9144000" y="3337560"/>
            <a:ext cx="2286000" cy="457200"/>
          </a:xfrm>
          <a:prstGeom prst="rect">
            <a:avLst/>
          </a:prstGeom>
          <a:solidFill>
            <a:srgbClr val="FFFFFF"/>
          </a:solidFill>
          <a:ln w="9525">
            <a:solidFill>
              <a:srgbClr val="D9D9D9"/>
            </a:solidFill>
            <a:prstDash val="solid"/>
          </a:ln>
        </p:spPr>
      </p:sp>
      <p:sp>
        <p:nvSpPr>
          <p:cNvPr id="27" name="Text 25"/>
          <p:cNvSpPr/>
          <p:nvPr/>
        </p:nvSpPr>
        <p:spPr>
          <a:xfrm>
            <a:off x="9253728" y="3337560"/>
            <a:ext cx="206654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a:t>
            </a:r>
            <a:endParaRPr lang="en-US" sz="1250" dirty="0"/>
          </a:p>
        </p:txBody>
      </p:sp>
      <p:sp>
        <p:nvSpPr>
          <p:cNvPr id="28" name="Shape 26"/>
          <p:cNvSpPr/>
          <p:nvPr/>
        </p:nvSpPr>
        <p:spPr>
          <a:xfrm>
            <a:off x="640080" y="3794760"/>
            <a:ext cx="5760720" cy="457200"/>
          </a:xfrm>
          <a:prstGeom prst="rect">
            <a:avLst/>
          </a:prstGeom>
          <a:solidFill>
            <a:srgbClr val="FFFFFF"/>
          </a:solidFill>
          <a:ln w="9525">
            <a:solidFill>
              <a:srgbClr val="D9D9D9"/>
            </a:solidFill>
            <a:prstDash val="solid"/>
          </a:ln>
        </p:spPr>
      </p:sp>
      <p:sp>
        <p:nvSpPr>
          <p:cNvPr id="29" name="Text 27"/>
          <p:cNvSpPr/>
          <p:nvPr/>
        </p:nvSpPr>
        <p:spPr>
          <a:xfrm>
            <a:off x="749808" y="3794760"/>
            <a:ext cx="554126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With task-shifting</a:t>
            </a:r>
            <a:endParaRPr lang="en-US" sz="1250" dirty="0"/>
          </a:p>
        </p:txBody>
      </p:sp>
      <p:sp>
        <p:nvSpPr>
          <p:cNvPr id="30" name="Shape 28"/>
          <p:cNvSpPr/>
          <p:nvPr/>
        </p:nvSpPr>
        <p:spPr>
          <a:xfrm>
            <a:off x="6400800" y="3794760"/>
            <a:ext cx="2743200" cy="457200"/>
          </a:xfrm>
          <a:prstGeom prst="rect">
            <a:avLst/>
          </a:prstGeom>
          <a:solidFill>
            <a:srgbClr val="FFFFFF"/>
          </a:solidFill>
          <a:ln w="9525">
            <a:solidFill>
              <a:srgbClr val="D9D9D9"/>
            </a:solidFill>
            <a:prstDash val="solid"/>
          </a:ln>
        </p:spPr>
      </p:sp>
      <p:sp>
        <p:nvSpPr>
          <p:cNvPr id="31" name="Text 29"/>
          <p:cNvSpPr/>
          <p:nvPr/>
        </p:nvSpPr>
        <p:spPr>
          <a:xfrm>
            <a:off x="6510528" y="3794760"/>
            <a:ext cx="252374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56 / 68</a:t>
            </a:r>
            <a:endParaRPr lang="en-US" sz="1250" dirty="0"/>
          </a:p>
        </p:txBody>
      </p:sp>
      <p:sp>
        <p:nvSpPr>
          <p:cNvPr id="32" name="Shape 30"/>
          <p:cNvSpPr/>
          <p:nvPr/>
        </p:nvSpPr>
        <p:spPr>
          <a:xfrm>
            <a:off x="9144000" y="3794760"/>
            <a:ext cx="2286000" cy="457200"/>
          </a:xfrm>
          <a:prstGeom prst="rect">
            <a:avLst/>
          </a:prstGeom>
          <a:solidFill>
            <a:srgbClr val="FFFFFF"/>
          </a:solidFill>
          <a:ln w="9525">
            <a:solidFill>
              <a:srgbClr val="D9D9D9"/>
            </a:solidFill>
            <a:prstDash val="solid"/>
          </a:ln>
        </p:spPr>
      </p:sp>
      <p:sp>
        <p:nvSpPr>
          <p:cNvPr id="33" name="Text 31"/>
          <p:cNvSpPr/>
          <p:nvPr/>
        </p:nvSpPr>
        <p:spPr>
          <a:xfrm>
            <a:off x="9253728" y="3794760"/>
            <a:ext cx="2066544" cy="457200"/>
          </a:xfrm>
          <a:prstGeom prst="rect">
            <a:avLst/>
          </a:prstGeom>
          <a:noFill/>
          <a:ln/>
        </p:spPr>
        <p:txBody>
          <a:bodyPr wrap="square" rtlCol="0" anchor="ctr"/>
          <a:lstStyle/>
          <a:p>
            <a:pPr indent="0" marL="0">
              <a:buNone/>
            </a:pPr>
            <a:r>
              <a:rPr lang="en-US" sz="1250" dirty="0">
                <a:solidFill>
                  <a:srgbClr val="1A1A1A"/>
                </a:solidFill>
                <a:latin typeface="Arial" pitchFamily="34" charset="0"/>
                <a:ea typeface="Arial" pitchFamily="34" charset="-122"/>
                <a:cs typeface="Arial" pitchFamily="34" charset="-120"/>
              </a:rPr>
              <a:t>-</a:t>
            </a:r>
            <a:endParaRPr lang="en-US" sz="1250" dirty="0"/>
          </a:p>
        </p:txBody>
      </p:sp>
      <p:sp>
        <p:nvSpPr>
          <p:cNvPr id="34" name="Text 32"/>
          <p:cNvSpPr/>
          <p:nvPr/>
        </p:nvSpPr>
        <p:spPr>
          <a:xfrm>
            <a:off x="640080" y="4526280"/>
            <a:ext cx="10911535" cy="548640"/>
          </a:xfrm>
          <a:prstGeom prst="rect">
            <a:avLst/>
          </a:prstGeom>
          <a:noFill/>
          <a:ln/>
        </p:spPr>
        <p:txBody>
          <a:bodyPr wrap="square" rtlCol="0" anchor="t"/>
          <a:lstStyle/>
          <a:p>
            <a:pPr algn="l" indent="0" marL="0">
              <a:buNone/>
            </a:pPr>
            <a:r>
              <a:rPr lang="en-US" sz="1150" i="1" dirty="0">
                <a:solidFill>
                  <a:srgbClr val="6B6B6B"/>
                </a:solidFill>
                <a:latin typeface="Arial" pitchFamily="34" charset="0"/>
                <a:ea typeface="Arial" pitchFamily="34" charset="-122"/>
                <a:cs typeface="Arial" pitchFamily="34" charset="-120"/>
              </a:rPr>
              <a:t>Task-shifting pharmacy/nutrition duties to nurses relieves the pharmaceutical bottleneck and brings in 10 more interventions.</a:t>
            </a:r>
            <a:endParaRPr lang="en-US" sz="1150" dirty="0"/>
          </a:p>
        </p:txBody>
      </p:sp>
      <p:sp>
        <p:nvSpPr>
          <p:cNvPr id="35" name="Text 33"/>
          <p:cNvSpPr/>
          <p:nvPr/>
        </p:nvSpPr>
        <p:spPr>
          <a:xfrm>
            <a:off x="640080" y="4937760"/>
            <a:ext cx="10911535" cy="548640"/>
          </a:xfrm>
          <a:prstGeom prst="rect">
            <a:avLst/>
          </a:prstGeom>
          <a:noFill/>
          <a:ln/>
        </p:spPr>
        <p:txBody>
          <a:bodyPr wrap="square" rtlCol="0" anchor="t"/>
          <a:lstStyle/>
          <a:p>
            <a:pPr algn="l" indent="0" marL="0">
              <a:buNone/>
            </a:pPr>
            <a:r>
              <a:rPr lang="en-US" sz="1150" i="1" dirty="0">
                <a:solidFill>
                  <a:srgbClr val="6B6B6B"/>
                </a:solidFill>
                <a:latin typeface="Arial" pitchFamily="34" charset="0"/>
                <a:ea typeface="Arial" pitchFamily="34" charset="-122"/>
                <a:cs typeface="Arial" pitchFamily="34" charset="-120"/>
              </a:rPr>
              <a:t>The 68-intervention base is the subset matched to the reference workforce dataset, not the full 95.</a:t>
            </a:r>
            <a:endParaRPr lang="en-US" sz="1150" dirty="0"/>
          </a:p>
        </p:txBody>
      </p:sp>
      <p:sp>
        <p:nvSpPr>
          <p:cNvPr id="36" name="Text 34"/>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DISTRIBUTIONAL ANALYSIS (DCEA)</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Being efficient is not the same as being equitable.</a:t>
            </a:r>
            <a:endParaRPr lang="en-US" sz="2300" dirty="0"/>
          </a:p>
        </p:txBody>
      </p:sp>
      <p:sp>
        <p:nvSpPr>
          <p:cNvPr id="4" name="Text 2"/>
          <p:cNvSpPr/>
          <p:nvPr/>
        </p:nvSpPr>
        <p:spPr>
          <a:xfrm>
            <a:off x="640080" y="2011680"/>
            <a:ext cx="10911535" cy="3840480"/>
          </a:xfrm>
          <a:prstGeom prst="rect">
            <a:avLst/>
          </a:prstGeom>
          <a:noFill/>
          <a:ln/>
        </p:spPr>
        <p:txBody>
          <a:bodyPr wrap="square" rtlCol="0" anchor="t"/>
          <a:lstStyle/>
          <a:p>
            <a:pPr algn="l" marL="203200" indent="-203200">
              <a:spcAft>
                <a:spcPts val="1600"/>
              </a:spcAft>
              <a:buSzPct val="100000"/>
              <a:buChar char="–"/>
            </a:pPr>
            <a:r>
              <a:rPr lang="en-US" sz="1650" dirty="0">
                <a:solidFill>
                  <a:srgbClr val="1A1A1A"/>
                </a:solidFill>
                <a:latin typeface="Arial" pitchFamily="34" charset="0"/>
                <a:ea typeface="Arial" pitchFamily="34" charset="-122"/>
                <a:cs typeface="Arial" pitchFamily="34" charset="-120"/>
              </a:rPr>
              <a:t>Each intervention's benefit is split by who actually uses it - by wealth quintile and by residence</a:t>
            </a:r>
            <a:endParaRPr lang="en-US" sz="1650" dirty="0"/>
          </a:p>
          <a:p>
            <a:pPr algn="l" marL="203200" indent="-203200">
              <a:spcAft>
                <a:spcPts val="1600"/>
              </a:spcAft>
              <a:buSzPct val="100000"/>
              <a:buChar char="–"/>
            </a:pPr>
            <a:r>
              <a:rPr lang="en-US" sz="1650" dirty="0">
                <a:solidFill>
                  <a:srgbClr val="1A1A1A"/>
                </a:solidFill>
                <a:latin typeface="Arial" pitchFamily="34" charset="0"/>
                <a:ea typeface="Arial" pitchFamily="34" charset="-122"/>
                <a:cs typeface="Arial" pitchFamily="34" charset="-120"/>
              </a:rPr>
              <a:t>An Atkinson index summarizes each group's health in one number, penalizing gaps between groups</a:t>
            </a:r>
            <a:endParaRPr lang="en-US" sz="1650" dirty="0"/>
          </a:p>
          <a:p>
            <a:pPr algn="l" marL="203200" indent="-203200">
              <a:spcAft>
                <a:spcPts val="1600"/>
              </a:spcAft>
              <a:buSzPct val="100000"/>
              <a:buChar char="–"/>
            </a:pPr>
            <a:r>
              <a:rPr lang="en-US" sz="1650" dirty="0">
                <a:solidFill>
                  <a:srgbClr val="1A1A1A"/>
                </a:solidFill>
                <a:latin typeface="Arial" pitchFamily="34" charset="0"/>
                <a:ea typeface="Arial" pitchFamily="34" charset="-122"/>
                <a:cs typeface="Arial" pitchFamily="34" charset="-120"/>
              </a:rPr>
              <a:t>The penalty parameter (epsilon) is tested at 2, 10, and 25 to check robustness</a:t>
            </a:r>
            <a:endParaRPr lang="en-US" sz="1650" dirty="0"/>
          </a:p>
        </p:txBody>
      </p:sp>
      <p:sp>
        <p:nvSpPr>
          <p:cNvPr id="5"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DISTRIBUTIONAL ANALYSIS  -  RESULTS</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The equity result rests heavily on one intervention, and on provisional baseline parameters.</a:t>
            </a:r>
            <a:endParaRPr lang="en-US" sz="2300" dirty="0"/>
          </a:p>
        </p:txBody>
      </p:sp>
      <p:pic>
        <p:nvPicPr>
          <p:cNvPr id="4" name="Image 0" descr="/tmp/claude-0/-home-user-Tuto-test/c5af62e6-580a-50f7-99b9-aad76c71bea2/scratchpad/pptx/dcea_equity_plane_wealth.png">    </p:cNvPr>
          <p:cNvPicPr>
            <a:picLocks noChangeAspect="1"/>
          </p:cNvPicPr>
          <p:nvPr/>
        </p:nvPicPr>
        <p:blipFill>
          <a:blip r:embed="rId1"/>
          <a:stretch>
            <a:fillRect/>
          </a:stretch>
        </p:blipFill>
        <p:spPr>
          <a:xfrm>
            <a:off x="640080" y="1783080"/>
            <a:ext cx="5486400" cy="4270248"/>
          </a:xfrm>
          <a:prstGeom prst="rect">
            <a:avLst/>
          </a:prstGeom>
        </p:spPr>
      </p:pic>
      <p:sp>
        <p:nvSpPr>
          <p:cNvPr id="5" name="Text 2"/>
          <p:cNvSpPr/>
          <p:nvPr/>
        </p:nvSpPr>
        <p:spPr>
          <a:xfrm>
            <a:off x="6492240" y="1874520"/>
            <a:ext cx="5120640" cy="4206240"/>
          </a:xfrm>
          <a:prstGeom prst="rect">
            <a:avLst/>
          </a:prstGeom>
          <a:noFill/>
          <a:ln/>
        </p:spPr>
        <p:txBody>
          <a:bodyPr wrap="square" rtlCol="0" anchor="t"/>
          <a:lstStyle/>
          <a:p>
            <a:pPr algn="l" marL="203200" indent="-203200">
              <a:spcAft>
                <a:spcPts val="1200"/>
              </a:spcAft>
              <a:buSzPct val="100000"/>
              <a:buChar char="–"/>
            </a:pPr>
            <a:r>
              <a:rPr lang="en-US" sz="1380" dirty="0">
                <a:solidFill>
                  <a:srgbClr val="1A1A1A"/>
                </a:solidFill>
                <a:latin typeface="Arial" pitchFamily="34" charset="0"/>
                <a:ea typeface="Arial" pitchFamily="34" charset="-122"/>
                <a:cs typeface="Arial" pitchFamily="34" charset="-120"/>
              </a:rPr>
              <a:t>Pediatric malaria treatment alone drives roughly three-quarters of total net benefit</a:t>
            </a:r>
            <a:endParaRPr lang="en-US" sz="1380" dirty="0"/>
          </a:p>
          <a:p>
            <a:pPr algn="l" marL="203200" indent="-203200">
              <a:spcAft>
                <a:spcPts val="1200"/>
              </a:spcAft>
              <a:buSzPct val="100000"/>
              <a:buChar char="–"/>
            </a:pPr>
            <a:r>
              <a:rPr lang="en-US" sz="1380" dirty="0">
                <a:solidFill>
                  <a:srgbClr val="1A1A1A"/>
                </a:solidFill>
                <a:latin typeface="Arial" pitchFamily="34" charset="0"/>
                <a:ea typeface="Arial" pitchFamily="34" charset="-122"/>
                <a:cs typeface="Arial" pitchFamily="34" charset="-120"/>
              </a:rPr>
              <a:t>The same intervention accounts for most of the wealth-quintile inequality result</a:t>
            </a:r>
            <a:endParaRPr lang="en-US" sz="1380" dirty="0"/>
          </a:p>
          <a:p>
            <a:pPr algn="l" marL="203200" indent="-203200">
              <a:spcAft>
                <a:spcPts val="1200"/>
              </a:spcAft>
              <a:buSzPct val="100000"/>
              <a:buChar char="–"/>
            </a:pPr>
            <a:r>
              <a:rPr lang="en-US" sz="1380" dirty="0">
                <a:solidFill>
                  <a:srgbClr val="1A1A1A"/>
                </a:solidFill>
                <a:latin typeface="Arial" pitchFamily="34" charset="0"/>
                <a:ea typeface="Arial" pitchFamily="34" charset="-122"/>
                <a:cs typeface="Arial" pitchFamily="34" charset="-120"/>
              </a:rPr>
              <a:t>Direction differs by dimension: widens wealth-quintile gaps, narrows the urban/rural gap</a:t>
            </a:r>
            <a:endParaRPr lang="en-US" sz="1380" dirty="0"/>
          </a:p>
          <a:p>
            <a:pPr algn="l" marL="203200" indent="-203200">
              <a:spcAft>
                <a:spcPts val="1200"/>
              </a:spcAft>
              <a:buSzPct val="100000"/>
              <a:buChar char="–"/>
            </a:pPr>
            <a:r>
              <a:rPr lang="en-US" sz="1380" dirty="0">
                <a:solidFill>
                  <a:srgbClr val="1A1A1A"/>
                </a:solidFill>
                <a:latin typeface="Arial" pitchFamily="34" charset="0"/>
                <a:ea typeface="Arial" pitchFamily="34" charset="-122"/>
                <a:cs typeface="Arial" pitchFamily="34" charset="-120"/>
              </a:rPr>
              <a:t>Caveat: the baseline health distribution is a simplified proxy, pending Senegal DHS microdata</a:t>
            </a:r>
            <a:endParaRPr lang="en-US" sz="1380" dirty="0"/>
          </a:p>
        </p:txBody>
      </p:sp>
      <p:sp>
        <p:nvSpPr>
          <p:cNvPr id="6"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DATA QUALITY AND TRACEABILITY</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Every inclusion or exclusion in the pipeline is traceable, and QA already caught one real error.</a:t>
            </a:r>
            <a:endParaRPr lang="en-US" sz="2300" dirty="0"/>
          </a:p>
        </p:txBody>
      </p:sp>
      <p:sp>
        <p:nvSpPr>
          <p:cNvPr id="4" name="Text 2"/>
          <p:cNvSpPr/>
          <p:nvPr/>
        </p:nvSpPr>
        <p:spPr>
          <a:xfrm>
            <a:off x="640080" y="2011680"/>
            <a:ext cx="10911535" cy="4023360"/>
          </a:xfrm>
          <a:prstGeom prst="rect">
            <a:avLst/>
          </a:prstGeom>
          <a:noFill/>
          <a:ln/>
        </p:spPr>
        <p:txBody>
          <a:bodyPr wrap="square" rtlCol="0" anchor="t"/>
          <a:lstStyle/>
          <a:p>
            <a:pPr algn="l" marL="203200" indent="-203200">
              <a:spcAft>
                <a:spcPts val="1400"/>
              </a:spcAft>
              <a:buSzPct val="100000"/>
              <a:buChar char="–"/>
            </a:pPr>
            <a:r>
              <a:rPr lang="en-US" sz="1550" dirty="0">
                <a:solidFill>
                  <a:srgbClr val="1A1A1A"/>
                </a:solidFill>
                <a:latin typeface="Arial" pitchFamily="34" charset="0"/>
                <a:ea typeface="Arial" pitchFamily="34" charset="-122"/>
                <a:cs typeface="Arial" pitchFamily="34" charset="-120"/>
              </a:rPr>
              <a:t>A mis-attributed data source (six mental-health interventions wrongly linked to an unrelated study) was found and corrected pipeline-wide</a:t>
            </a:r>
            <a:endParaRPr lang="en-US" sz="1550" dirty="0"/>
          </a:p>
          <a:p>
            <a:pPr algn="l" marL="203200" indent="-203200">
              <a:spcAft>
                <a:spcPts val="1400"/>
              </a:spcAft>
              <a:buSzPct val="100000"/>
              <a:buChar char="–"/>
            </a:pPr>
            <a:r>
              <a:rPr lang="en-US" sz="1550" dirty="0">
                <a:solidFill>
                  <a:srgbClr val="1A1A1A"/>
                </a:solidFill>
                <a:latin typeface="Arial" pitchFamily="34" charset="0"/>
                <a:ea typeface="Arial" pitchFamily="34" charset="-122"/>
                <a:cs typeface="Arial" pitchFamily="34" charset="-120"/>
              </a:rPr>
              <a:t>Inclusion and exclusion are now tracked at every stage - not just the league table, but the optimization and DCEA steps too, each with a stated reason</a:t>
            </a:r>
            <a:endParaRPr lang="en-US" sz="1550" dirty="0"/>
          </a:p>
          <a:p>
            <a:pPr algn="l" marL="203200" indent="-203200">
              <a:spcAft>
                <a:spcPts val="1400"/>
              </a:spcAft>
              <a:buSzPct val="100000"/>
              <a:buChar char="–"/>
            </a:pPr>
            <a:r>
              <a:rPr lang="en-US" sz="1550" dirty="0">
                <a:solidFill>
                  <a:srgbClr val="1A1A1A"/>
                </a:solidFill>
                <a:latin typeface="Arial" pitchFamily="34" charset="0"/>
                <a:ea typeface="Arial" pitchFamily="34" charset="-122"/>
                <a:cs typeface="Arial" pitchFamily="34" charset="-120"/>
              </a:rPr>
              <a:t>One remaining inconsistency (realistic-implementation case volumes for one intervention) is flagged and still being checked</a:t>
            </a:r>
            <a:endParaRPr lang="en-US" sz="1550" dirty="0"/>
          </a:p>
        </p:txBody>
      </p:sp>
      <p:sp>
        <p:nvSpPr>
          <p:cNvPr id="5"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ROBUSTNESS</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The main conclusions hold across a plausible range of modeling choices.</a:t>
            </a:r>
            <a:endParaRPr lang="en-US" sz="2300" dirty="0"/>
          </a:p>
        </p:txBody>
      </p:sp>
      <p:sp>
        <p:nvSpPr>
          <p:cNvPr id="4" name="Text 2"/>
          <p:cNvSpPr/>
          <p:nvPr/>
        </p:nvSpPr>
        <p:spPr>
          <a:xfrm>
            <a:off x="640080" y="2011680"/>
            <a:ext cx="10911535" cy="3840480"/>
          </a:xfrm>
          <a:prstGeom prst="rect">
            <a:avLst/>
          </a:prstGeom>
          <a:noFill/>
          <a:ln/>
        </p:spPr>
        <p:txBody>
          <a:bodyPr wrap="square" rtlCol="0" anchor="t"/>
          <a:lstStyle/>
          <a:p>
            <a:pPr algn="l" marL="203200" indent="-203200">
              <a:spcAft>
                <a:spcPts val="1600"/>
              </a:spcAft>
              <a:buSzPct val="100000"/>
              <a:buChar char="–"/>
            </a:pPr>
            <a:r>
              <a:rPr lang="en-US" sz="1600" dirty="0">
                <a:solidFill>
                  <a:srgbClr val="1A1A1A"/>
                </a:solidFill>
                <a:latin typeface="Arial" pitchFamily="34" charset="0"/>
                <a:ea typeface="Arial" pitchFamily="34" charset="-122"/>
                <a:cs typeface="Arial" pitchFamily="34" charset="-120"/>
              </a:rPr>
              <a:t>Inequality result direction is unchanged across epsilon = 2, 10, and 25</a:t>
            </a:r>
            <a:endParaRPr lang="en-US" sz="1600" dirty="0"/>
          </a:p>
          <a:p>
            <a:pPr algn="l" marL="203200" indent="-203200">
              <a:spcAft>
                <a:spcPts val="1600"/>
              </a:spcAft>
              <a:buSzPct val="100000"/>
              <a:buChar char="–"/>
            </a:pPr>
            <a:r>
              <a:rPr lang="en-US" sz="1600" dirty="0">
                <a:solidFill>
                  <a:srgbClr val="1A1A1A"/>
                </a:solidFill>
                <a:latin typeface="Arial" pitchFamily="34" charset="0"/>
                <a:ea typeface="Arial" pitchFamily="34" charset="-122"/>
                <a:cs typeface="Arial" pitchFamily="34" charset="-120"/>
              </a:rPr>
              <a:t>The affordable package composition is stable across CET = 50% to 200% of the reference value</a:t>
            </a:r>
            <a:endParaRPr lang="en-US" sz="1600" dirty="0"/>
          </a:p>
          <a:p>
            <a:pPr algn="l" marL="203200" indent="-203200">
              <a:spcAft>
                <a:spcPts val="1600"/>
              </a:spcAft>
              <a:buSzPct val="100000"/>
              <a:buChar char="–"/>
            </a:pPr>
            <a:r>
              <a:rPr lang="en-US" sz="1600" dirty="0">
                <a:solidFill>
                  <a:srgbClr val="1A1A1A"/>
                </a:solidFill>
                <a:latin typeface="Arial" pitchFamily="34" charset="0"/>
                <a:ea typeface="Arial" pitchFamily="34" charset="-122"/>
                <a:cs typeface="Arial" pitchFamily="34" charset="-120"/>
              </a:rPr>
              <a:t>None of this substitutes for Senegal-specific data - it shows the framework itself is not fragile to the choices we had to make</a:t>
            </a:r>
            <a:endParaRPr lang="en-US" sz="1600" dirty="0"/>
          </a:p>
        </p:txBody>
      </p:sp>
      <p:sp>
        <p:nvSpPr>
          <p:cNvPr id="5"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TAKEAWAYS</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Three things worth remembering from this iteration.</a:t>
            </a:r>
            <a:endParaRPr lang="en-US" sz="2300" dirty="0"/>
          </a:p>
        </p:txBody>
      </p:sp>
      <p:sp>
        <p:nvSpPr>
          <p:cNvPr id="4" name="Text 2"/>
          <p:cNvSpPr/>
          <p:nvPr/>
        </p:nvSpPr>
        <p:spPr>
          <a:xfrm>
            <a:off x="640080" y="2011680"/>
            <a:ext cx="10911535" cy="4023360"/>
          </a:xfrm>
          <a:prstGeom prst="rect">
            <a:avLst/>
          </a:prstGeom>
          <a:noFill/>
          <a:ln/>
        </p:spPr>
        <p:txBody>
          <a:bodyPr wrap="square" rtlCol="0" anchor="t"/>
          <a:lstStyle/>
          <a:p>
            <a:pPr algn="l" marL="203200" indent="-203200">
              <a:spcAft>
                <a:spcPts val="1600"/>
              </a:spcAft>
              <a:buSzPct val="100000"/>
              <a:buChar char="–"/>
            </a:pPr>
            <a:r>
              <a:rPr lang="en-US" sz="1650" dirty="0">
                <a:solidFill>
                  <a:srgbClr val="1A1A1A"/>
                </a:solidFill>
                <a:latin typeface="Arial" pitchFamily="34" charset="0"/>
                <a:ea typeface="Arial" pitchFamily="34" charset="-122"/>
                <a:cs typeface="Arial" pitchFamily="34" charset="-120"/>
              </a:rPr>
              <a:t>Cost-effective is not sufficient - workforce constraints exclude nearly half of the individually cost-effective interventions</a:t>
            </a:r>
            <a:endParaRPr lang="en-US" sz="1650" dirty="0"/>
          </a:p>
          <a:p>
            <a:pPr algn="l" marL="203200" indent="-203200">
              <a:spcAft>
                <a:spcPts val="1600"/>
              </a:spcAft>
              <a:buSzPct val="100000"/>
              <a:buChar char="–"/>
            </a:pPr>
            <a:r>
              <a:rPr lang="en-US" sz="1650" dirty="0">
                <a:solidFill>
                  <a:srgbClr val="1A1A1A"/>
                </a:solidFill>
                <a:latin typeface="Arial" pitchFamily="34" charset="0"/>
                <a:ea typeface="Arial" pitchFamily="34" charset="-122"/>
                <a:cs typeface="Arial" pitchFamily="34" charset="-120"/>
              </a:rPr>
              <a:t>Several resources bind at once - pharmacy staff, mental-health staff, and the budget - while doctors and nurses keep slack</a:t>
            </a:r>
            <a:endParaRPr lang="en-US" sz="1650" dirty="0"/>
          </a:p>
          <a:p>
            <a:pPr algn="l" marL="203200" indent="-203200">
              <a:spcAft>
                <a:spcPts val="1600"/>
              </a:spcAft>
              <a:buSzPct val="100000"/>
              <a:buChar char="–"/>
            </a:pPr>
            <a:r>
              <a:rPr lang="en-US" sz="1650" dirty="0">
                <a:solidFill>
                  <a:srgbClr val="1A1A1A"/>
                </a:solidFill>
                <a:latin typeface="Arial" pitchFamily="34" charset="0"/>
                <a:ea typeface="Arial" pitchFamily="34" charset="-122"/>
                <a:cs typeface="Arial" pitchFamily="34" charset="-120"/>
              </a:rPr>
              <a:t>Efficiency and equity can point in different directions - this needs an explicit, not implicit, policy choice</a:t>
            </a:r>
            <a:endParaRPr lang="en-US" sz="1650" dirty="0"/>
          </a:p>
        </p:txBody>
      </p:sp>
      <p:sp>
        <p:nvSpPr>
          <p:cNvPr id="5"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NEXT STEPS</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A prioritized list of what to replace first, and what I'd like to sharpen next.</a:t>
            </a:r>
            <a:endParaRPr lang="en-US" sz="2300" dirty="0"/>
          </a:p>
        </p:txBody>
      </p:sp>
      <p:sp>
        <p:nvSpPr>
          <p:cNvPr id="4" name="Text 2"/>
          <p:cNvSpPr/>
          <p:nvPr/>
        </p:nvSpPr>
        <p:spPr>
          <a:xfrm>
            <a:off x="640080" y="2011680"/>
            <a:ext cx="10911535" cy="3931920"/>
          </a:xfrm>
          <a:prstGeom prst="rect">
            <a:avLst/>
          </a:prstGeom>
          <a:noFill/>
          <a:ln/>
        </p:spPr>
        <p:txBody>
          <a:bodyPr wrap="square" rtlCol="0" anchor="t"/>
          <a:lstStyle/>
          <a:p>
            <a:pPr algn="l" marL="203200" indent="-203200">
              <a:spcAft>
                <a:spcPts val="1400"/>
              </a:spcAft>
              <a:buSzPct val="100000"/>
              <a:buChar char="–"/>
            </a:pPr>
            <a:r>
              <a:rPr lang="en-US" sz="1500" dirty="0">
                <a:solidFill>
                  <a:srgbClr val="1A1A1A"/>
                </a:solidFill>
                <a:latin typeface="Arial" pitchFamily="34" charset="0"/>
                <a:ea typeface="Arial" pitchFamily="34" charset="-122"/>
                <a:cs typeface="Arial" pitchFamily="34" charset="-120"/>
              </a:rPr>
              <a:t>Priority 1: Senegal-specific workforce data, since it drives the optimization bottleneck result</a:t>
            </a:r>
            <a:endParaRPr lang="en-US" sz="1500" dirty="0"/>
          </a:p>
          <a:p>
            <a:pPr algn="l" marL="203200" indent="-203200">
              <a:spcAft>
                <a:spcPts val="1400"/>
              </a:spcAft>
              <a:buSzPct val="100000"/>
              <a:buChar char="–"/>
            </a:pPr>
            <a:r>
              <a:rPr lang="en-US" sz="1500" dirty="0">
                <a:solidFill>
                  <a:srgbClr val="1A1A1A"/>
                </a:solidFill>
                <a:latin typeface="Arial" pitchFamily="34" charset="0"/>
                <a:ea typeface="Arial" pitchFamily="34" charset="-122"/>
                <a:cs typeface="Arial" pitchFamily="34" charset="-120"/>
              </a:rPr>
              <a:t>Priority 2: a confirmed consumables budget, and DHS microdata for the DCEA baseline</a:t>
            </a:r>
            <a:endParaRPr lang="en-US" sz="1500" dirty="0"/>
          </a:p>
          <a:p>
            <a:pPr algn="l" marL="203200" indent="-203200">
              <a:spcAft>
                <a:spcPts val="1400"/>
              </a:spcAft>
              <a:buSzPct val="100000"/>
              <a:buChar char="–"/>
            </a:pPr>
            <a:r>
              <a:rPr lang="en-US" sz="1500" dirty="0">
                <a:solidFill>
                  <a:srgbClr val="1A1A1A"/>
                </a:solidFill>
                <a:latin typeface="Arial" pitchFamily="34" charset="0"/>
                <a:ea typeface="Arial" pitchFamily="34" charset="-122"/>
                <a:cs typeface="Arial" pitchFamily="34" charset="-120"/>
              </a:rPr>
              <a:t>Priority 3: a second-source check on the effectiveness figures behind the largest interventions</a:t>
            </a:r>
            <a:endParaRPr lang="en-US" sz="1500" dirty="0"/>
          </a:p>
          <a:p>
            <a:pPr algn="l" marL="203200" indent="-203200">
              <a:spcAft>
                <a:spcPts val="1400"/>
              </a:spcAft>
              <a:buSzPct val="100000"/>
              <a:buChar char="–"/>
            </a:pPr>
            <a:r>
              <a:rPr lang="en-US" sz="1500" dirty="0">
                <a:solidFill>
                  <a:srgbClr val="1A1A1A"/>
                </a:solidFill>
                <a:latin typeface="Arial" pitchFamily="34" charset="0"/>
                <a:ea typeface="Arial" pitchFamily="34" charset="-122"/>
                <a:cs typeface="Arial" pitchFamily="34" charset="-120"/>
              </a:rPr>
              <a:t>On the DCEA side specifically, I'd like to get closer to the original method's own specification for the baseline and the equity-efficiency analysis - happy to compare notes with anyone who's implemented this elsewhere</a:t>
            </a:r>
            <a:endParaRPr lang="en-US" sz="1500" dirty="0"/>
          </a:p>
        </p:txBody>
      </p:sp>
      <p:sp>
        <p:nvSpPr>
          <p:cNvPr id="5" name="Text 3"/>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algn="l" indent="0" marL="0">
              <a:buNone/>
            </a:pPr>
            <a:r>
              <a:rPr lang="en-US" sz="1100" b="1" spc="100" kern="0" dirty="0">
                <a:solidFill>
                  <a:srgbClr val="6B6B6B"/>
                </a:solidFill>
                <a:latin typeface="Arial" pitchFamily="34" charset="0"/>
                <a:ea typeface="Arial" pitchFamily="34" charset="-122"/>
                <a:cs typeface="Arial" pitchFamily="34" charset="-120"/>
              </a:rPr>
              <a:t>DISCUSSION</a:t>
            </a:r>
            <a:endParaRPr lang="en-US" sz="1100" dirty="0"/>
          </a:p>
        </p:txBody>
      </p:sp>
      <p:sp>
        <p:nvSpPr>
          <p:cNvPr id="3" name="Text 1"/>
          <p:cNvSpPr/>
          <p:nvPr/>
        </p:nvSpPr>
        <p:spPr>
          <a:xfrm>
            <a:off x="640080" y="658368"/>
            <a:ext cx="10911535" cy="960120"/>
          </a:xfrm>
          <a:prstGeom prst="rect">
            <a:avLst/>
          </a:prstGeom>
          <a:noFill/>
          <a:ln/>
        </p:spPr>
        <p:txBody>
          <a:bodyPr wrap="square" rtlCol="0" anchor="t"/>
          <a:lstStyle/>
          <a:p>
            <a:pPr algn="l" indent="0" marL="0">
              <a:buNone/>
            </a:pPr>
            <a:r>
              <a:rPr lang="en-US" sz="2300" b="1" dirty="0">
                <a:solidFill>
                  <a:srgbClr val="000066"/>
                </a:solidFill>
                <a:latin typeface="Arial" pitchFamily="34" charset="0"/>
                <a:ea typeface="Arial" pitchFamily="34" charset="-122"/>
                <a:cs typeface="Arial" pitchFamily="34" charset="-120"/>
              </a:rPr>
              <a:t>Over to the group: priorities, sequencing, and any leads on the open items.</a:t>
            </a:r>
            <a:endParaRPr lang="en-US" sz="2300" dirty="0"/>
          </a:p>
        </p:txBody>
      </p:sp>
      <p:sp>
        <p:nvSpPr>
          <p:cNvPr id="4" name="Text 2"/>
          <p:cNvSpPr/>
          <p:nvPr/>
        </p:nvSpPr>
        <p:spPr>
          <a:xfrm>
            <a:off x="11094415" y="6473952"/>
            <a:ext cx="457200" cy="274320"/>
          </a:xfrm>
          <a:prstGeom prst="rect">
            <a:avLst/>
          </a:prstGeom>
          <a:noFill/>
          <a:ln/>
        </p:spPr>
        <p:txBody>
          <a:bodyPr wrap="square" rtlCol="0" anchor="ctr"/>
          <a:lstStyle/>
          <a:p>
            <a:pPr algn="r" indent="0" marL="0">
              <a:buNone/>
            </a:pPr>
            <a:r>
              <a:rPr lang="en-US" sz="900" dirty="0">
                <a:solidFill>
                  <a:srgbClr val="6B6B6B"/>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Senegal HBP - Methodology and Results Review</dc:title>
  <dc:subject>PptxGenJS Presentation</dc:subject>
  <dc:creator/>
  <cp:lastModifiedBy/>
  <cp:revision>1</cp:revision>
  <dcterms:created xsi:type="dcterms:W3CDTF">2026-09-10T09:31:59Z</dcterms:created>
  <dcterms:modified xsi:type="dcterms:W3CDTF">2026-09-10T09:31:59Z</dcterms:modified>
</cp:coreProperties>
</file>