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Merci a tous d'etre la. Je vais presenter aujourd'hui le premier dry run de la methode de priorisation pour le paquet de benefices de sante du Senegal : la logique cout-efficacite standard, l'optimisation sous contraintes, et l'analyse distributionnelle (DCEA). L'objectif de cette session est de partager la mecanique de la methode, les premiers resultats, et surtout d'ouvrir la discussion sur les prochaines etapes pour affiner ces resultats avec des donnees Senegal plus fines.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va suivre exactement la structure de la note ecrite envoyee a Marc et Michel : d'abord la logique cout-efficacite standard (le league table), ensuite l'optimisation sous contraintes de ressources, puis la dimension d'equite avec la DCEA. A la fin, je proposerai des pistes concretes pour la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Senegal doit definir son paquet de benefices de sante essentiel dans un contexte de ressources limitees. Le fardeau de morbidite est domine par les pathologies neonatales et, de plus en plus, les maladies non transmissibles. La question n'est pas 'que voudrait-on faire' mais 'que peut-on faire, et dans quel ordre', avec 389 interventions candidates au depart.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trois etapes s'enchainent : le league table repond a 'est-ce que ca en vaut la peine', l'optimisation repond a 'peut-on vraiment le livrer avec les ressources disponibles', et la DCEA repond a 'qui en beneficie reellement'. Chaque etape s'appuie sur la precedente.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de depart : 389 interventions recensees. Quatre filtres successifs les reduisent a 95 : liees a une des 20 causes GBD prioritaires (141 restent), cout unitaire disponible (toujours 141), effet mesure en DALYs evitees par patient (97 restent), et donnees de volume de cas disponibles (95 au final). A un seuil de cout-efficacite de 485 dollars par DALY evitee, 85 des 95 interventions sont individuellement rentables.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classement ne se fait pas seulement sur le ratio cout-efficacite (ICER), mais sur le benefice net : DALYs evitees moins le cout converti en DALYs via le seuil. Ca permet de classer les interventions par leur contribution reelle a la sante de la population, pas seulement par leur rentabilite unitaire. La courbe en bleu correspond aux interventions retenues sous le seuil de 485 dollars, en rouge celles qui depassent ce seuil.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intervention rentable individuellement ne garantit pas qu'on puisse la financer ET la staffer en meme temps que toutes les autres. L'optimisation sous contraintes resout ce probleme conjointement : elle choisit le niveau de couverture de chaque intervention pour maximiser le benefice net total, sous une contrainte budgetaire et une contrainte de temps de travail par corps de metier. C'est un outil de decision direct : si le budget ou le personnel change, on peut immediatement recalculer quel paquet devient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figure la plus parlante de cette section. A gauche, ce qu'il faudrait pour traiter tous les cas rentables sans aucune limite : plus de 600% de la capacite actuelle en personnel de sante mentale, plus de 500% du budget consommables. A droite, une fois les contraintes reellement appliquees, on voit que c'est le budget qui sature en premier a 100%, alors que le personnel medical general garde de la marge. La sante mentale, elle, est quasiment exclue du paquet retenu, pas parce qu'elle n'est pas utile, mais parce qu'elle est trop couteuse en personnel rare face aux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scenarios testes. Sans aucune contrainte de ressources, 77 interventions passent le seuil de rentabilite. Des qu'on ajoute le budget consommables, ca tombe deja legerement a 75, mais le total de DALYs reste quasiment identique : le budget n'exclut que des interventions marginales. Le vrai choc arrive avec les contraintes de personnel : le scenario de base ne retient plus que 46 des 68 interventions testees. Permettre un transfert de taches vers les infirmiers, en levant le goulot pharmaceutique, fait remonter ce chiffre a 56, mais au prix d'une charge de travail medecin et infirmier plus elevee. C'est un arbitrage explicite qu'il faudra faire au niveau politique.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DCEA pose une question differente du league table classique : pas 'combien de sante en plus', mais 'qui en beneficie'. On repartit le benefice de chaque intervention selon qui l'utilise reellement, par quintile de richesse et par milieu de residence, puis on resume la sante de chaque groupe avec un indice d'Atkinson, qui penalise les ecarts. Le parametre epsilon regle cette penalite : plus il est eleve, plus on se soucie du sort du groupe le plus defavorise. On l'a teste a 2, 10 et 25 pour verifier la robustesse.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plan d'equite par quintile de richesse. Le traitement du paludisme chez les enfants de moins de 5 ans domine totalement le graphique : 74% du benefice net total du paquet, et 89% de son impact sur les inegalites de richesse. Ce resultat n'est pas une erreur : avec environ 4 episodes de paludisme par enfant et par an sur 2,5 millions d'enfants, le volume de cas est enorme. Mais il montre aussi que le profil d'equite du paquet entier depend presque entierement d'une seule intervention. Sur la dimension urbain/rural en revanche, le paquet reduit legerement les inegalites plutot que de les creuser, un signal different qui merite d'etre souligne.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retiens trois messages de cette premiere iteration. Un : etre rentable ne suffit pas, les contraintes de personnel excluent pres de la moitie des interventions individuellement rentables. Deux : c'est le personnel, pas le budget, qui est le vrai goulot d'etranglement une fois les contraintes reellement appliquees. Trois : l'efficacite et l'equite ne pointent pas toujours dans le meme sens, ce qui appelle un arbitrage politique explicite plutot qu'implicite.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premiere iteration n'est pas une fin en soi, c'est un outil de travail deja operationnel. Trois prochaines etapes concretes : d'abord, remplacer progressivement les parametres provisoires (budget, donnees RH, parametres DCEA) par des donnees Senegal confirmees, des qu'elles sont disponibles - le pipeline est concu pour que ca ne prenne que quelques minutes de recalcul, pas un nouveau travail de zero. Ensuite, tester d'autres scenarios de decision (un CET revise, un budget different) tout aussi rapidement. Enfin, utiliser ces resultats pour nourrir une discussion explicite sur l'arbitrage equite-efficacite avec le groupe de travail technique. Je reste evidemment disponible pour continuer a faire evoluer cet outil au fur et a mesure que de nouvelles donnees arrivent.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pour votre attention. Je suis ouvert a toutes vos questions, notamment sur les choix methodologiques et les hypotheses provisoires. Et encore une fois, je reste pleinement disponible pour faire evoluer ce travail au fil des prochaines donnees et des prochaines discussions.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66"/>
        </a:solidFill>
      </p:bgPr>
    </p:bg>
    <p:spTree>
      <p:nvGrpSpPr>
        <p:cNvPr id="1" name=""/>
        <p:cNvGrpSpPr/>
        <p:nvPr/>
      </p:nvGrpSpPr>
      <p:grpSpPr>
        <a:xfrm>
          <a:off x="0" y="0"/>
          <a:ext cx="0" cy="0"/>
          <a:chOff x="0" y="0"/>
          <a:chExt cx="0" cy="0"/>
        </a:xfrm>
      </p:grpSpPr>
      <p:sp>
        <p:nvSpPr>
          <p:cNvPr id="2" name="Text 0"/>
          <p:cNvSpPr/>
          <p:nvPr/>
        </p:nvSpPr>
        <p:spPr>
          <a:xfrm>
            <a:off x="548640" y="2331720"/>
            <a:ext cx="11094415" cy="1371600"/>
          </a:xfrm>
          <a:prstGeom prst="rect">
            <a:avLst/>
          </a:prstGeom>
          <a:noFill/>
          <a:ln/>
        </p:spPr>
        <p:txBody>
          <a:bodyPr wrap="square" rtlCol="0" anchor="ctr"/>
          <a:lstStyle/>
          <a:p>
            <a:pPr algn="l" indent="0" marL="0">
              <a:buNone/>
            </a:pPr>
            <a:r>
              <a:rPr lang="en-US" sz="3800" b="1" dirty="0">
                <a:solidFill>
                  <a:srgbClr val="FFFFFF"/>
                </a:solidFill>
                <a:latin typeface="Arial" pitchFamily="34" charset="0"/>
                <a:ea typeface="Arial" pitchFamily="34" charset="-122"/>
                <a:cs typeface="Arial" pitchFamily="34" charset="-120"/>
              </a:rPr>
              <a:t>Defining Senegal's Health Benefits Package</a:t>
            </a:r>
            <a:endParaRPr lang="en-US" sz="3800" dirty="0"/>
          </a:p>
        </p:txBody>
      </p:sp>
      <p:sp>
        <p:nvSpPr>
          <p:cNvPr id="3" name="Text 1"/>
          <p:cNvSpPr/>
          <p:nvPr/>
        </p:nvSpPr>
        <p:spPr>
          <a:xfrm>
            <a:off x="548640" y="3611880"/>
            <a:ext cx="11094415" cy="822960"/>
          </a:xfrm>
          <a:prstGeom prst="rect">
            <a:avLst/>
          </a:prstGeom>
          <a:noFill/>
          <a:ln/>
        </p:spPr>
        <p:txBody>
          <a:bodyPr wrap="square" rtlCol="0" anchor="ctr"/>
          <a:lstStyle/>
          <a:p>
            <a:pPr algn="l" indent="0" marL="0">
              <a:buNone/>
            </a:pPr>
            <a:r>
              <a:rPr lang="en-US" sz="1800" dirty="0">
                <a:solidFill>
                  <a:srgbClr val="0099FF"/>
                </a:solidFill>
                <a:latin typeface="Arial" pitchFamily="34" charset="0"/>
                <a:ea typeface="Arial" pitchFamily="34" charset="-122"/>
                <a:cs typeface="Arial" pitchFamily="34" charset="-120"/>
              </a:rPr>
              <a:t>Cost-effectiveness ranking, constrained optimization, and distributional analysis - a first dry run</a:t>
            </a:r>
            <a:endParaRPr lang="en-US" sz="1800" dirty="0"/>
          </a:p>
        </p:txBody>
      </p:sp>
      <p:sp>
        <p:nvSpPr>
          <p:cNvPr id="4" name="Text 2"/>
          <p:cNvSpPr/>
          <p:nvPr/>
        </p:nvSpPr>
        <p:spPr>
          <a:xfrm>
            <a:off x="548640" y="5852160"/>
            <a:ext cx="7315200" cy="365760"/>
          </a:xfrm>
          <a:prstGeom prst="rect">
            <a:avLst/>
          </a:prstGeom>
          <a:noFill/>
          <a:ln/>
        </p:spPr>
        <p:txBody>
          <a:bodyPr wrap="square" rtlCol="0" anchor="ctr"/>
          <a:lstStyle/>
          <a:p>
            <a:pPr algn="l" indent="0" marL="0">
              <a:buNone/>
            </a:pPr>
            <a:r>
              <a:rPr lang="en-US" sz="1300" dirty="0">
                <a:solidFill>
                  <a:srgbClr val="CCC6E0"/>
                </a:solidFill>
                <a:latin typeface="Arial" pitchFamily="34" charset="0"/>
                <a:ea typeface="Arial" pitchFamily="34" charset="-122"/>
                <a:cs typeface="Arial" pitchFamily="34" charset="-120"/>
              </a:rPr>
              <a:t>EasyHealth WP3  |  LISER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AGENDA</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3000" b="1" dirty="0">
                <a:solidFill>
                  <a:srgbClr val="000066"/>
                </a:solidFill>
                <a:latin typeface="Arial" pitchFamily="34" charset="0"/>
                <a:ea typeface="Arial" pitchFamily="34" charset="-122"/>
                <a:cs typeface="Arial" pitchFamily="34" charset="-120"/>
              </a:rPr>
              <a:t>Trois methodes, une seule question de priorisation</a:t>
            </a:r>
            <a:endParaRPr lang="en-US" sz="3000" dirty="0"/>
          </a:p>
        </p:txBody>
      </p:sp>
      <p:sp>
        <p:nvSpPr>
          <p:cNvPr id="4" name="Shape 2"/>
          <p:cNvSpPr/>
          <p:nvPr/>
        </p:nvSpPr>
        <p:spPr>
          <a:xfrm>
            <a:off x="548640" y="1691640"/>
            <a:ext cx="502920" cy="502920"/>
          </a:xfrm>
          <a:prstGeom prst="ellipse">
            <a:avLst/>
          </a:prstGeom>
          <a:solidFill>
            <a:srgbClr val="000066"/>
          </a:solidFill>
          <a:ln w="12700">
            <a:solidFill>
              <a:srgbClr val="000066"/>
            </a:solidFill>
            <a:prstDash val="solid"/>
          </a:ln>
        </p:spPr>
      </p:sp>
      <p:sp>
        <p:nvSpPr>
          <p:cNvPr id="5" name="Text 3"/>
          <p:cNvSpPr/>
          <p:nvPr/>
        </p:nvSpPr>
        <p:spPr>
          <a:xfrm>
            <a:off x="548640" y="1691640"/>
            <a:ext cx="502920" cy="50292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6" name="Text 4"/>
          <p:cNvSpPr/>
          <p:nvPr/>
        </p:nvSpPr>
        <p:spPr>
          <a:xfrm>
            <a:off x="1325880" y="1636776"/>
            <a:ext cx="4846320" cy="457200"/>
          </a:xfrm>
          <a:prstGeom prst="rect">
            <a:avLst/>
          </a:prstGeom>
          <a:noFill/>
          <a:ln/>
        </p:spPr>
        <p:txBody>
          <a:bodyPr wrap="square" rtlCol="0" anchor="ctr"/>
          <a:lstStyle/>
          <a:p>
            <a:pPr algn="l" indent="0" marL="0">
              <a:buNone/>
            </a:pPr>
            <a:r>
              <a:rPr lang="en-US" sz="1800" b="1" dirty="0">
                <a:solidFill>
                  <a:srgbClr val="000066"/>
                </a:solidFill>
                <a:latin typeface="Arial" pitchFamily="34" charset="0"/>
                <a:ea typeface="Arial" pitchFamily="34" charset="-122"/>
                <a:cs typeface="Arial" pitchFamily="34" charset="-120"/>
              </a:rPr>
              <a:t>Cost-effectiveness (CEA)</a:t>
            </a:r>
            <a:endParaRPr lang="en-US" sz="1800" dirty="0"/>
          </a:p>
        </p:txBody>
      </p:sp>
      <p:sp>
        <p:nvSpPr>
          <p:cNvPr id="7" name="Text 5"/>
          <p:cNvSpPr/>
          <p:nvPr/>
        </p:nvSpPr>
        <p:spPr>
          <a:xfrm>
            <a:off x="1325880" y="2103120"/>
            <a:ext cx="9601200" cy="548640"/>
          </a:xfrm>
          <a:prstGeom prst="rect">
            <a:avLst/>
          </a:prstGeom>
          <a:noFill/>
          <a:ln/>
        </p:spPr>
        <p:txBody>
          <a:bodyPr wrap="square" rtlCol="0" anchor="t"/>
          <a:lstStyle/>
          <a:p>
            <a:pPr algn="l" indent="0" marL="0">
              <a:buNone/>
            </a:pPr>
            <a:r>
              <a:rPr lang="en-US" sz="1300" dirty="0">
                <a:solidFill>
                  <a:srgbClr val="434143"/>
                </a:solidFill>
                <a:latin typeface="Arial" pitchFamily="34" charset="0"/>
                <a:ea typeface="Arial" pitchFamily="34" charset="-122"/>
                <a:cs typeface="Arial" pitchFamily="34" charset="-120"/>
              </a:rPr>
              <a:t>Quelles interventions offrent le plus de sante par dollar depense ?</a:t>
            </a:r>
            <a:endParaRPr lang="en-US" sz="1300" dirty="0"/>
          </a:p>
        </p:txBody>
      </p:sp>
      <p:sp>
        <p:nvSpPr>
          <p:cNvPr id="8" name="Shape 6"/>
          <p:cNvSpPr/>
          <p:nvPr/>
        </p:nvSpPr>
        <p:spPr>
          <a:xfrm>
            <a:off x="548640" y="3108960"/>
            <a:ext cx="502920" cy="502920"/>
          </a:xfrm>
          <a:prstGeom prst="ellipse">
            <a:avLst/>
          </a:prstGeom>
          <a:solidFill>
            <a:srgbClr val="000066"/>
          </a:solidFill>
          <a:ln w="12700">
            <a:solidFill>
              <a:srgbClr val="000066"/>
            </a:solidFill>
            <a:prstDash val="solid"/>
          </a:ln>
        </p:spPr>
      </p:sp>
      <p:sp>
        <p:nvSpPr>
          <p:cNvPr id="9" name="Text 7"/>
          <p:cNvSpPr/>
          <p:nvPr/>
        </p:nvSpPr>
        <p:spPr>
          <a:xfrm>
            <a:off x="548640" y="3108960"/>
            <a:ext cx="502920" cy="50292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0" name="Text 8"/>
          <p:cNvSpPr/>
          <p:nvPr/>
        </p:nvSpPr>
        <p:spPr>
          <a:xfrm>
            <a:off x="1325880" y="3054096"/>
            <a:ext cx="4846320" cy="457200"/>
          </a:xfrm>
          <a:prstGeom prst="rect">
            <a:avLst/>
          </a:prstGeom>
          <a:noFill/>
          <a:ln/>
        </p:spPr>
        <p:txBody>
          <a:bodyPr wrap="square" rtlCol="0" anchor="ctr"/>
          <a:lstStyle/>
          <a:p>
            <a:pPr algn="l" indent="0" marL="0">
              <a:buNone/>
            </a:pPr>
            <a:r>
              <a:rPr lang="en-US" sz="1800" b="1" dirty="0">
                <a:solidFill>
                  <a:srgbClr val="000066"/>
                </a:solidFill>
                <a:latin typeface="Arial" pitchFamily="34" charset="0"/>
                <a:ea typeface="Arial" pitchFamily="34" charset="-122"/>
                <a:cs typeface="Arial" pitchFamily="34" charset="-120"/>
              </a:rPr>
              <a:t>Optimisation sous contraintes</a:t>
            </a:r>
            <a:endParaRPr lang="en-US" sz="1800" dirty="0"/>
          </a:p>
        </p:txBody>
      </p:sp>
      <p:sp>
        <p:nvSpPr>
          <p:cNvPr id="11" name="Text 9"/>
          <p:cNvSpPr/>
          <p:nvPr/>
        </p:nvSpPr>
        <p:spPr>
          <a:xfrm>
            <a:off x="1325880" y="3520440"/>
            <a:ext cx="9601200" cy="548640"/>
          </a:xfrm>
          <a:prstGeom prst="rect">
            <a:avLst/>
          </a:prstGeom>
          <a:noFill/>
          <a:ln/>
        </p:spPr>
        <p:txBody>
          <a:bodyPr wrap="square" rtlCol="0" anchor="t"/>
          <a:lstStyle/>
          <a:p>
            <a:pPr algn="l" indent="0" marL="0">
              <a:buNone/>
            </a:pPr>
            <a:r>
              <a:rPr lang="en-US" sz="1300" dirty="0">
                <a:solidFill>
                  <a:srgbClr val="434143"/>
                </a:solidFill>
                <a:latin typeface="Arial" pitchFamily="34" charset="0"/>
                <a:ea typeface="Arial" pitchFamily="34" charset="-122"/>
                <a:cs typeface="Arial" pitchFamily="34" charset="-120"/>
              </a:rPr>
              <a:t>Que peut-on reellement livrer avec un budget et un personnel limites ?</a:t>
            </a:r>
            <a:endParaRPr lang="en-US" sz="1300" dirty="0"/>
          </a:p>
        </p:txBody>
      </p:sp>
      <p:sp>
        <p:nvSpPr>
          <p:cNvPr id="12" name="Shape 10"/>
          <p:cNvSpPr/>
          <p:nvPr/>
        </p:nvSpPr>
        <p:spPr>
          <a:xfrm>
            <a:off x="548640" y="4526280"/>
            <a:ext cx="502920" cy="502920"/>
          </a:xfrm>
          <a:prstGeom prst="ellipse">
            <a:avLst/>
          </a:prstGeom>
          <a:solidFill>
            <a:srgbClr val="000066"/>
          </a:solidFill>
          <a:ln w="12700">
            <a:solidFill>
              <a:srgbClr val="000066"/>
            </a:solidFill>
            <a:prstDash val="solid"/>
          </a:ln>
        </p:spPr>
      </p:sp>
      <p:sp>
        <p:nvSpPr>
          <p:cNvPr id="13" name="Text 11"/>
          <p:cNvSpPr/>
          <p:nvPr/>
        </p:nvSpPr>
        <p:spPr>
          <a:xfrm>
            <a:off x="548640" y="4526280"/>
            <a:ext cx="502920" cy="50292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4" name="Text 12"/>
          <p:cNvSpPr/>
          <p:nvPr/>
        </p:nvSpPr>
        <p:spPr>
          <a:xfrm>
            <a:off x="1325880" y="4471416"/>
            <a:ext cx="4846320" cy="457200"/>
          </a:xfrm>
          <a:prstGeom prst="rect">
            <a:avLst/>
          </a:prstGeom>
          <a:noFill/>
          <a:ln/>
        </p:spPr>
        <p:txBody>
          <a:bodyPr wrap="square" rtlCol="0" anchor="ctr"/>
          <a:lstStyle/>
          <a:p>
            <a:pPr algn="l" indent="0" marL="0">
              <a:buNone/>
            </a:pPr>
            <a:r>
              <a:rPr lang="en-US" sz="1800" b="1" dirty="0">
                <a:solidFill>
                  <a:srgbClr val="000066"/>
                </a:solidFill>
                <a:latin typeface="Arial" pitchFamily="34" charset="0"/>
                <a:ea typeface="Arial" pitchFamily="34" charset="-122"/>
                <a:cs typeface="Arial" pitchFamily="34" charset="-120"/>
              </a:rPr>
              <a:t>Analyse distributionnelle (DCEA)</a:t>
            </a:r>
            <a:endParaRPr lang="en-US" sz="1800" dirty="0"/>
          </a:p>
        </p:txBody>
      </p:sp>
      <p:sp>
        <p:nvSpPr>
          <p:cNvPr id="15" name="Text 13"/>
          <p:cNvSpPr/>
          <p:nvPr/>
        </p:nvSpPr>
        <p:spPr>
          <a:xfrm>
            <a:off x="1325880" y="4937760"/>
            <a:ext cx="9601200" cy="548640"/>
          </a:xfrm>
          <a:prstGeom prst="rect">
            <a:avLst/>
          </a:prstGeom>
          <a:noFill/>
          <a:ln/>
        </p:spPr>
        <p:txBody>
          <a:bodyPr wrap="square" rtlCol="0" anchor="t"/>
          <a:lstStyle/>
          <a:p>
            <a:pPr algn="l" indent="0" marL="0">
              <a:buNone/>
            </a:pPr>
            <a:r>
              <a:rPr lang="en-US" sz="1300" dirty="0">
                <a:solidFill>
                  <a:srgbClr val="434143"/>
                </a:solidFill>
                <a:latin typeface="Arial" pitchFamily="34" charset="0"/>
                <a:ea typeface="Arial" pitchFamily="34" charset="-122"/>
                <a:cs typeface="Arial" pitchFamily="34" charset="-120"/>
              </a:rPr>
              <a:t>Qui beneficie de ce paquet, et est-ce que ca reduit les inegalites ?</a:t>
            </a:r>
            <a:endParaRPr lang="en-US" sz="1300" dirty="0"/>
          </a:p>
        </p:txBody>
      </p:sp>
      <p:sp>
        <p:nvSpPr>
          <p:cNvPr id="16" name="Text 14"/>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17" name="Text 15"/>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CONTEXTE</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3000" b="1" dirty="0">
                <a:solidFill>
                  <a:srgbClr val="000066"/>
                </a:solidFill>
                <a:latin typeface="Arial" pitchFamily="34" charset="0"/>
                <a:ea typeface="Arial" pitchFamily="34" charset="-122"/>
                <a:cs typeface="Arial" pitchFamily="34" charset="-120"/>
              </a:rPr>
              <a:t>Un paquet de benefices a definir sous contrainte de ressources</a:t>
            </a:r>
            <a:endParaRPr lang="en-US" sz="3000" dirty="0"/>
          </a:p>
        </p:txBody>
      </p:sp>
      <p:sp>
        <p:nvSpPr>
          <p:cNvPr id="4" name="Text 2"/>
          <p:cNvSpPr/>
          <p:nvPr/>
        </p:nvSpPr>
        <p:spPr>
          <a:xfrm>
            <a:off x="548640" y="1737360"/>
            <a:ext cx="5760720" cy="3931920"/>
          </a:xfrm>
          <a:prstGeom prst="rect">
            <a:avLst/>
          </a:prstGeom>
          <a:noFill/>
          <a:ln/>
        </p:spPr>
        <p:txBody>
          <a:bodyPr wrap="square" rtlCol="0" anchor="t"/>
          <a:lstStyle/>
          <a:p>
            <a:pPr algn="l" marL="228600" indent="-228600">
              <a:spcAft>
                <a:spcPts val="1600"/>
              </a:spcAft>
              <a:buSzPct val="100000"/>
              <a:buChar char="•"/>
            </a:pPr>
            <a:r>
              <a:rPr lang="en-US" sz="1600" dirty="0">
                <a:solidFill>
                  <a:srgbClr val="434143"/>
                </a:solidFill>
                <a:latin typeface="Arial" pitchFamily="34" charset="0"/>
                <a:ea typeface="Arial" pitchFamily="34" charset="-122"/>
                <a:cs typeface="Arial" pitchFamily="34" charset="-120"/>
              </a:rPr>
              <a:t>18,1 millions d'habitants (2023), croissance de 2,9%/an</a:t>
            </a:r>
            <a:endParaRPr lang="en-US" sz="1600" dirty="0"/>
          </a:p>
          <a:p>
            <a:pPr algn="l" marL="228600" indent="-228600">
              <a:spcAft>
                <a:spcPts val="1600"/>
              </a:spcAft>
              <a:buSzPct val="100000"/>
              <a:buChar char="•"/>
            </a:pPr>
            <a:r>
              <a:rPr lang="en-US" sz="1600" dirty="0">
                <a:solidFill>
                  <a:srgbClr val="434143"/>
                </a:solidFill>
                <a:latin typeface="Arial" pitchFamily="34" charset="0"/>
                <a:ea typeface="Arial" pitchFamily="34" charset="-122"/>
                <a:cs typeface="Arial" pitchFamily="34" charset="-120"/>
              </a:rPr>
              <a:t>Fardeau de morbidite domine par les maladies neonatales (16%) et les maladies non transmissibles (18,4% du top 20)</a:t>
            </a:r>
            <a:endParaRPr lang="en-US" sz="1600" dirty="0"/>
          </a:p>
          <a:p>
            <a:pPr algn="l" marL="228600" indent="-228600">
              <a:spcAft>
                <a:spcPts val="1600"/>
              </a:spcAft>
              <a:buSzPct val="100000"/>
              <a:buChar char="•"/>
            </a:pPr>
            <a:r>
              <a:rPr lang="en-US" sz="1600" dirty="0">
                <a:solidFill>
                  <a:srgbClr val="434143"/>
                </a:solidFill>
                <a:latin typeface="Arial" pitchFamily="34" charset="0"/>
                <a:ea typeface="Arial" pitchFamily="34" charset="-122"/>
                <a:cs typeface="Arial" pitchFamily="34" charset="-120"/>
              </a:rPr>
              <a:t>389 interventions candidates recensees dans l'OneHealth Tool</a:t>
            </a:r>
            <a:endParaRPr lang="en-US" sz="1600" dirty="0"/>
          </a:p>
          <a:p>
            <a:pPr algn="l" marL="228600" indent="-228600">
              <a:spcAft>
                <a:spcPts val="1600"/>
              </a:spcAft>
              <a:buSzPct val="100000"/>
              <a:buChar char="•"/>
            </a:pPr>
            <a:r>
              <a:rPr lang="en-US" sz="1600" dirty="0">
                <a:solidFill>
                  <a:srgbClr val="434143"/>
                </a:solidFill>
                <a:latin typeface="Arial" pitchFamily="34" charset="0"/>
                <a:ea typeface="Arial" pitchFamily="34" charset="-122"/>
                <a:cs typeface="Arial" pitchFamily="34" charset="-120"/>
              </a:rPr>
              <a:t>Un budget de sante et un personnel limites : il faut choisir</a:t>
            </a:r>
            <a:endParaRPr lang="en-US" sz="1600" dirty="0"/>
          </a:p>
        </p:txBody>
      </p:sp>
      <p:sp>
        <p:nvSpPr>
          <p:cNvPr id="5" name="Text 3"/>
          <p:cNvSpPr/>
          <p:nvPr/>
        </p:nvSpPr>
        <p:spPr>
          <a:xfrm>
            <a:off x="6675120" y="1737360"/>
            <a:ext cx="4937760" cy="1077163"/>
          </a:xfrm>
          <a:prstGeom prst="rect">
            <a:avLst/>
          </a:prstGeom>
          <a:noFill/>
          <a:ln/>
        </p:spPr>
        <p:txBody>
          <a:bodyPr wrap="square" rtlCol="0" anchor="b"/>
          <a:lstStyle/>
          <a:p>
            <a:pPr algn="ctr" indent="0" marL="0">
              <a:buNone/>
            </a:pPr>
            <a:r>
              <a:rPr lang="en-US" sz="4000" b="1" dirty="0">
                <a:solidFill>
                  <a:srgbClr val="000066"/>
                </a:solidFill>
                <a:latin typeface="Arial" pitchFamily="34" charset="0"/>
                <a:ea typeface="Arial" pitchFamily="34" charset="-122"/>
                <a:cs typeface="Arial" pitchFamily="34" charset="-120"/>
              </a:rPr>
              <a:t>6,8M</a:t>
            </a:r>
            <a:endParaRPr lang="en-US" sz="4000" dirty="0"/>
          </a:p>
        </p:txBody>
      </p:sp>
      <p:sp>
        <p:nvSpPr>
          <p:cNvPr id="6" name="Text 4"/>
          <p:cNvSpPr/>
          <p:nvPr/>
        </p:nvSpPr>
        <p:spPr>
          <a:xfrm>
            <a:off x="6675120" y="2814523"/>
            <a:ext cx="4937760" cy="660197"/>
          </a:xfrm>
          <a:prstGeom prst="rect">
            <a:avLst/>
          </a:prstGeom>
          <a:noFill/>
          <a:ln/>
        </p:spPr>
        <p:txBody>
          <a:bodyPr wrap="square" rtlCol="0" anchor="t"/>
          <a:lstStyle/>
          <a:p>
            <a:pPr algn="ctr" indent="0" marL="0">
              <a:buNone/>
            </a:pPr>
            <a:r>
              <a:rPr lang="en-US" sz="1100" dirty="0">
                <a:solidFill>
                  <a:srgbClr val="434143"/>
                </a:solidFill>
                <a:latin typeface="Arial" pitchFamily="34" charset="0"/>
                <a:ea typeface="Arial" pitchFamily="34" charset="-122"/>
                <a:cs typeface="Arial" pitchFamily="34" charset="-120"/>
              </a:rPr>
              <a:t>DALYs totales, top 20 causes GBD</a:t>
            </a:r>
            <a:endParaRPr lang="en-US" sz="1100" dirty="0"/>
          </a:p>
        </p:txBody>
      </p:sp>
      <p:sp>
        <p:nvSpPr>
          <p:cNvPr id="7" name="Text 5"/>
          <p:cNvSpPr/>
          <p:nvPr/>
        </p:nvSpPr>
        <p:spPr>
          <a:xfrm>
            <a:off x="6675120" y="3657600"/>
            <a:ext cx="4937760" cy="1077163"/>
          </a:xfrm>
          <a:prstGeom prst="rect">
            <a:avLst/>
          </a:prstGeom>
          <a:noFill/>
          <a:ln/>
        </p:spPr>
        <p:txBody>
          <a:bodyPr wrap="square" rtlCol="0" anchor="b"/>
          <a:lstStyle/>
          <a:p>
            <a:pPr algn="ctr" indent="0" marL="0">
              <a:buNone/>
            </a:pPr>
            <a:r>
              <a:rPr lang="en-US" sz="4000" b="1" dirty="0">
                <a:solidFill>
                  <a:srgbClr val="000066"/>
                </a:solidFill>
                <a:latin typeface="Arial" pitchFamily="34" charset="0"/>
                <a:ea typeface="Arial" pitchFamily="34" charset="-122"/>
                <a:cs typeface="Arial" pitchFamily="34" charset="-120"/>
              </a:rPr>
              <a:t>389</a:t>
            </a:r>
            <a:endParaRPr lang="en-US" sz="4000" dirty="0"/>
          </a:p>
        </p:txBody>
      </p:sp>
      <p:sp>
        <p:nvSpPr>
          <p:cNvPr id="8" name="Text 6"/>
          <p:cNvSpPr/>
          <p:nvPr/>
        </p:nvSpPr>
        <p:spPr>
          <a:xfrm>
            <a:off x="6675120" y="4734763"/>
            <a:ext cx="4937760" cy="660197"/>
          </a:xfrm>
          <a:prstGeom prst="rect">
            <a:avLst/>
          </a:prstGeom>
          <a:noFill/>
          <a:ln/>
        </p:spPr>
        <p:txBody>
          <a:bodyPr wrap="square" rtlCol="0" anchor="t"/>
          <a:lstStyle/>
          <a:p>
            <a:pPr algn="ctr" indent="0" marL="0">
              <a:buNone/>
            </a:pPr>
            <a:r>
              <a:rPr lang="en-US" sz="1100" dirty="0">
                <a:solidFill>
                  <a:srgbClr val="434143"/>
                </a:solidFill>
                <a:latin typeface="Arial" pitchFamily="34" charset="0"/>
                <a:ea typeface="Arial" pitchFamily="34" charset="-122"/>
                <a:cs typeface="Arial" pitchFamily="34" charset="-120"/>
              </a:rPr>
              <a:t>interventions candidates (OneHealth Tool)</a:t>
            </a:r>
            <a:endParaRPr lang="en-US" sz="1100" dirty="0"/>
          </a:p>
        </p:txBody>
      </p:sp>
      <p:sp>
        <p:nvSpPr>
          <p:cNvPr id="9" name="Text 7"/>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10" name="Text 8"/>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METHODE</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3000" b="1" dirty="0">
                <a:solidFill>
                  <a:srgbClr val="000066"/>
                </a:solidFill>
                <a:latin typeface="Arial" pitchFamily="34" charset="0"/>
                <a:ea typeface="Arial" pitchFamily="34" charset="-122"/>
                <a:cs typeface="Arial" pitchFamily="34" charset="-120"/>
              </a:rPr>
              <a:t>La logique d'ensemble</a:t>
            </a:r>
            <a:endParaRPr lang="en-US" sz="3000" dirty="0"/>
          </a:p>
        </p:txBody>
      </p:sp>
      <p:sp>
        <p:nvSpPr>
          <p:cNvPr id="4" name="Shape 2"/>
          <p:cNvSpPr/>
          <p:nvPr/>
        </p:nvSpPr>
        <p:spPr>
          <a:xfrm>
            <a:off x="548640" y="1737360"/>
            <a:ext cx="3383280" cy="3566160"/>
          </a:xfrm>
          <a:prstGeom prst="roundRect">
            <a:avLst>
              <a:gd name="adj" fmla="val 2162"/>
            </a:avLst>
          </a:prstGeom>
          <a:solidFill>
            <a:srgbClr val="E4E2F0"/>
          </a:solidFill>
          <a:ln/>
        </p:spPr>
      </p:sp>
      <p:sp>
        <p:nvSpPr>
          <p:cNvPr id="5" name="Text 3"/>
          <p:cNvSpPr/>
          <p:nvPr/>
        </p:nvSpPr>
        <p:spPr>
          <a:xfrm>
            <a:off x="777240" y="1965960"/>
            <a:ext cx="2926080" cy="548640"/>
          </a:xfrm>
          <a:prstGeom prst="rect">
            <a:avLst/>
          </a:prstGeom>
          <a:noFill/>
          <a:ln/>
        </p:spPr>
        <p:txBody>
          <a:bodyPr wrap="square" rtlCol="0" anchor="ctr"/>
          <a:lstStyle/>
          <a:p>
            <a:pPr algn="l" indent="0" marL="0">
              <a:buNone/>
            </a:pPr>
            <a:r>
              <a:rPr lang="en-US" sz="1700" b="1" dirty="0">
                <a:solidFill>
                  <a:srgbClr val="000066"/>
                </a:solidFill>
                <a:latin typeface="Arial" pitchFamily="34" charset="0"/>
                <a:ea typeface="Arial" pitchFamily="34" charset="-122"/>
                <a:cs typeface="Arial" pitchFamily="34" charset="-120"/>
              </a:rPr>
              <a:t>1. League table</a:t>
            </a:r>
            <a:endParaRPr lang="en-US" sz="1700" dirty="0"/>
          </a:p>
        </p:txBody>
      </p:sp>
      <p:sp>
        <p:nvSpPr>
          <p:cNvPr id="6" name="Text 4"/>
          <p:cNvSpPr/>
          <p:nvPr/>
        </p:nvSpPr>
        <p:spPr>
          <a:xfrm>
            <a:off x="777240" y="2560320"/>
            <a:ext cx="2926080" cy="2560320"/>
          </a:xfrm>
          <a:prstGeom prst="rect">
            <a:avLst/>
          </a:prstGeom>
          <a:noFill/>
          <a:ln/>
        </p:spPr>
        <p:txBody>
          <a:bodyPr wrap="square" rtlCol="0" anchor="t"/>
          <a:lstStyle/>
          <a:p>
            <a:pPr algn="l" indent="0" marL="0">
              <a:buNone/>
            </a:pPr>
            <a:r>
              <a:rPr lang="en-US" sz="1350" dirty="0">
                <a:solidFill>
                  <a:srgbClr val="434143"/>
                </a:solidFill>
                <a:latin typeface="Arial" pitchFamily="34" charset="0"/>
                <a:ea typeface="Arial" pitchFamily="34" charset="-122"/>
                <a:cs typeface="Arial" pitchFamily="34" charset="-120"/>
              </a:rPr>
              <a:t>Classer les interventions par ratio cout-efficacite (ICER), contre un seuil de reference (CET)</a:t>
            </a:r>
            <a:endParaRPr lang="en-US" sz="1350" dirty="0"/>
          </a:p>
        </p:txBody>
      </p:sp>
      <p:sp>
        <p:nvSpPr>
          <p:cNvPr id="7" name="Shape 5"/>
          <p:cNvSpPr/>
          <p:nvPr/>
        </p:nvSpPr>
        <p:spPr>
          <a:xfrm>
            <a:off x="4251960" y="1737360"/>
            <a:ext cx="3383280" cy="3566160"/>
          </a:xfrm>
          <a:prstGeom prst="roundRect">
            <a:avLst>
              <a:gd name="adj" fmla="val 2162"/>
            </a:avLst>
          </a:prstGeom>
          <a:solidFill>
            <a:srgbClr val="E4E2F0"/>
          </a:solidFill>
          <a:ln/>
        </p:spPr>
      </p:sp>
      <p:sp>
        <p:nvSpPr>
          <p:cNvPr id="8" name="Text 6"/>
          <p:cNvSpPr/>
          <p:nvPr/>
        </p:nvSpPr>
        <p:spPr>
          <a:xfrm>
            <a:off x="4480560" y="1965960"/>
            <a:ext cx="2926080" cy="548640"/>
          </a:xfrm>
          <a:prstGeom prst="rect">
            <a:avLst/>
          </a:prstGeom>
          <a:noFill/>
          <a:ln/>
        </p:spPr>
        <p:txBody>
          <a:bodyPr wrap="square" rtlCol="0" anchor="ctr"/>
          <a:lstStyle/>
          <a:p>
            <a:pPr algn="l" indent="0" marL="0">
              <a:buNone/>
            </a:pPr>
            <a:r>
              <a:rPr lang="en-US" sz="1700" b="1" dirty="0">
                <a:solidFill>
                  <a:srgbClr val="006699"/>
                </a:solidFill>
                <a:latin typeface="Arial" pitchFamily="34" charset="0"/>
                <a:ea typeface="Arial" pitchFamily="34" charset="-122"/>
                <a:cs typeface="Arial" pitchFamily="34" charset="-120"/>
              </a:rPr>
              <a:t>2. Optimisation</a:t>
            </a:r>
            <a:endParaRPr lang="en-US" sz="1700" dirty="0"/>
          </a:p>
        </p:txBody>
      </p:sp>
      <p:sp>
        <p:nvSpPr>
          <p:cNvPr id="9" name="Text 7"/>
          <p:cNvSpPr/>
          <p:nvPr/>
        </p:nvSpPr>
        <p:spPr>
          <a:xfrm>
            <a:off x="4480560" y="2560320"/>
            <a:ext cx="2926080" cy="2560320"/>
          </a:xfrm>
          <a:prstGeom prst="rect">
            <a:avLst/>
          </a:prstGeom>
          <a:noFill/>
          <a:ln/>
        </p:spPr>
        <p:txBody>
          <a:bodyPr wrap="square" rtlCol="0" anchor="t"/>
          <a:lstStyle/>
          <a:p>
            <a:pPr algn="l" indent="0" marL="0">
              <a:buNone/>
            </a:pPr>
            <a:r>
              <a:rPr lang="en-US" sz="1350" dirty="0">
                <a:solidFill>
                  <a:srgbClr val="434143"/>
                </a:solidFill>
                <a:latin typeface="Arial" pitchFamily="34" charset="0"/>
                <a:ea typeface="Arial" pitchFamily="34" charset="-122"/>
                <a:cs typeface="Arial" pitchFamily="34" charset="-120"/>
              </a:rPr>
              <a:t>Choisir le niveau de couverture de chaque intervention sous contrainte de budget et de personnel</a:t>
            </a:r>
            <a:endParaRPr lang="en-US" sz="1350" dirty="0"/>
          </a:p>
        </p:txBody>
      </p:sp>
      <p:sp>
        <p:nvSpPr>
          <p:cNvPr id="10" name="Shape 8"/>
          <p:cNvSpPr/>
          <p:nvPr/>
        </p:nvSpPr>
        <p:spPr>
          <a:xfrm>
            <a:off x="7955280" y="1737360"/>
            <a:ext cx="3383280" cy="3566160"/>
          </a:xfrm>
          <a:prstGeom prst="roundRect">
            <a:avLst>
              <a:gd name="adj" fmla="val 2162"/>
            </a:avLst>
          </a:prstGeom>
          <a:solidFill>
            <a:srgbClr val="E4E2F0"/>
          </a:solidFill>
          <a:ln/>
        </p:spPr>
      </p:sp>
      <p:sp>
        <p:nvSpPr>
          <p:cNvPr id="11" name="Text 9"/>
          <p:cNvSpPr/>
          <p:nvPr/>
        </p:nvSpPr>
        <p:spPr>
          <a:xfrm>
            <a:off x="8183880" y="1965960"/>
            <a:ext cx="2926080" cy="548640"/>
          </a:xfrm>
          <a:prstGeom prst="rect">
            <a:avLst/>
          </a:prstGeom>
          <a:noFill/>
          <a:ln/>
        </p:spPr>
        <p:txBody>
          <a:bodyPr wrap="square" rtlCol="0" anchor="ctr"/>
          <a:lstStyle/>
          <a:p>
            <a:pPr algn="l" indent="0" marL="0">
              <a:buNone/>
            </a:pPr>
            <a:r>
              <a:rPr lang="en-US" sz="1700" b="1" dirty="0">
                <a:solidFill>
                  <a:srgbClr val="990000"/>
                </a:solidFill>
                <a:latin typeface="Arial" pitchFamily="34" charset="0"/>
                <a:ea typeface="Arial" pitchFamily="34" charset="-122"/>
                <a:cs typeface="Arial" pitchFamily="34" charset="-120"/>
              </a:rPr>
              <a:t>3. DCEA</a:t>
            </a:r>
            <a:endParaRPr lang="en-US" sz="1700" dirty="0"/>
          </a:p>
        </p:txBody>
      </p:sp>
      <p:sp>
        <p:nvSpPr>
          <p:cNvPr id="12" name="Text 10"/>
          <p:cNvSpPr/>
          <p:nvPr/>
        </p:nvSpPr>
        <p:spPr>
          <a:xfrm>
            <a:off x="8183880" y="2560320"/>
            <a:ext cx="2926080" cy="2560320"/>
          </a:xfrm>
          <a:prstGeom prst="rect">
            <a:avLst/>
          </a:prstGeom>
          <a:noFill/>
          <a:ln/>
        </p:spPr>
        <p:txBody>
          <a:bodyPr wrap="square" rtlCol="0" anchor="t"/>
          <a:lstStyle/>
          <a:p>
            <a:pPr algn="l" indent="0" marL="0">
              <a:buNone/>
            </a:pPr>
            <a:r>
              <a:rPr lang="en-US" sz="1350" dirty="0">
                <a:solidFill>
                  <a:srgbClr val="434143"/>
                </a:solidFill>
                <a:latin typeface="Arial" pitchFamily="34" charset="0"/>
                <a:ea typeface="Arial" pitchFamily="34" charset="-122"/>
                <a:cs typeface="Arial" pitchFamily="34" charset="-120"/>
              </a:rPr>
              <a:t>Verifier qui beneficie du paquet retenu, par quintile de richesse et par milieu de residence</a:t>
            </a:r>
            <a:endParaRPr lang="en-US" sz="1350" dirty="0"/>
          </a:p>
        </p:txBody>
      </p:sp>
      <p:sp>
        <p:nvSpPr>
          <p:cNvPr id="13" name="Text 11"/>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14" name="Text 12"/>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RESULTATS  -  COST-EFFECTIVENESS</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3000" b="1" dirty="0">
                <a:solidFill>
                  <a:srgbClr val="000066"/>
                </a:solidFill>
                <a:latin typeface="Arial" pitchFamily="34" charset="0"/>
                <a:ea typeface="Arial" pitchFamily="34" charset="-122"/>
                <a:cs typeface="Arial" pitchFamily="34" charset="-120"/>
              </a:rPr>
              <a:t>389 interventions, 95 retenues dans le league table</a:t>
            </a:r>
            <a:endParaRPr lang="en-US" sz="3000" dirty="0"/>
          </a:p>
        </p:txBody>
      </p:sp>
      <p:pic>
        <p:nvPicPr>
          <p:cNvPr id="4" name="Image 0" descr="/tmp/claude-0/-home-user-Tuto-test/c5af62e6-580a-50f7-99b9-aad76c71bea2/scratchpad/pptx/funnel_flow.png">    </p:cNvPr>
          <p:cNvPicPr>
            <a:picLocks noChangeAspect="1"/>
          </p:cNvPicPr>
          <p:nvPr/>
        </p:nvPicPr>
        <p:blipFill>
          <a:blip r:embed="rId1"/>
          <a:stretch>
            <a:fillRect/>
          </a:stretch>
        </p:blipFill>
        <p:spPr>
          <a:xfrm>
            <a:off x="548640" y="1600200"/>
            <a:ext cx="6949440" cy="4425696"/>
          </a:xfrm>
          <a:prstGeom prst="rect">
            <a:avLst/>
          </a:prstGeom>
        </p:spPr>
      </p:pic>
      <p:sp>
        <p:nvSpPr>
          <p:cNvPr id="5" name="Text 2"/>
          <p:cNvSpPr/>
          <p:nvPr/>
        </p:nvSpPr>
        <p:spPr>
          <a:xfrm>
            <a:off x="8092440" y="1737360"/>
            <a:ext cx="3566160" cy="963778"/>
          </a:xfrm>
          <a:prstGeom prst="rect">
            <a:avLst/>
          </a:prstGeom>
          <a:noFill/>
          <a:ln/>
        </p:spPr>
        <p:txBody>
          <a:bodyPr wrap="square" rtlCol="0" anchor="b"/>
          <a:lstStyle/>
          <a:p>
            <a:pPr algn="ctr" indent="0" marL="0">
              <a:buNone/>
            </a:pPr>
            <a:r>
              <a:rPr lang="en-US" sz="4000" b="1" dirty="0">
                <a:solidFill>
                  <a:srgbClr val="000066"/>
                </a:solidFill>
                <a:latin typeface="Arial" pitchFamily="34" charset="0"/>
                <a:ea typeface="Arial" pitchFamily="34" charset="-122"/>
                <a:cs typeface="Arial" pitchFamily="34" charset="-120"/>
              </a:rPr>
              <a:t>95</a:t>
            </a:r>
            <a:endParaRPr lang="en-US" sz="4000" dirty="0"/>
          </a:p>
        </p:txBody>
      </p:sp>
      <p:sp>
        <p:nvSpPr>
          <p:cNvPr id="6" name="Text 3"/>
          <p:cNvSpPr/>
          <p:nvPr/>
        </p:nvSpPr>
        <p:spPr>
          <a:xfrm>
            <a:off x="8092440" y="2701138"/>
            <a:ext cx="3566160" cy="590702"/>
          </a:xfrm>
          <a:prstGeom prst="rect">
            <a:avLst/>
          </a:prstGeom>
          <a:noFill/>
          <a:ln/>
        </p:spPr>
        <p:txBody>
          <a:bodyPr wrap="square" rtlCol="0" anchor="t"/>
          <a:lstStyle/>
          <a:p>
            <a:pPr algn="ctr" indent="0" marL="0">
              <a:buNone/>
            </a:pPr>
            <a:r>
              <a:rPr lang="en-US" sz="1100" dirty="0">
                <a:solidFill>
                  <a:srgbClr val="434143"/>
                </a:solidFill>
                <a:latin typeface="Arial" pitchFamily="34" charset="0"/>
                <a:ea typeface="Arial" pitchFamily="34" charset="-122"/>
                <a:cs typeface="Arial" pitchFamily="34" charset="-120"/>
              </a:rPr>
              <a:t>interventions dans le league table final</a:t>
            </a:r>
            <a:endParaRPr lang="en-US" sz="1100" dirty="0"/>
          </a:p>
        </p:txBody>
      </p:sp>
      <p:sp>
        <p:nvSpPr>
          <p:cNvPr id="7" name="Text 4"/>
          <p:cNvSpPr/>
          <p:nvPr/>
        </p:nvSpPr>
        <p:spPr>
          <a:xfrm>
            <a:off x="8092440" y="3429000"/>
            <a:ext cx="3566160" cy="963778"/>
          </a:xfrm>
          <a:prstGeom prst="rect">
            <a:avLst/>
          </a:prstGeom>
          <a:noFill/>
          <a:ln/>
        </p:spPr>
        <p:txBody>
          <a:bodyPr wrap="square" rtlCol="0" anchor="b"/>
          <a:lstStyle/>
          <a:p>
            <a:pPr algn="ctr" indent="0" marL="0">
              <a:buNone/>
            </a:pPr>
            <a:r>
              <a:rPr lang="en-US" sz="4000" b="1" dirty="0">
                <a:solidFill>
                  <a:srgbClr val="000066"/>
                </a:solidFill>
                <a:latin typeface="Arial" pitchFamily="34" charset="0"/>
                <a:ea typeface="Arial" pitchFamily="34" charset="-122"/>
                <a:cs typeface="Arial" pitchFamily="34" charset="-120"/>
              </a:rPr>
              <a:t>85 / 95</a:t>
            </a:r>
            <a:endParaRPr lang="en-US" sz="4000" dirty="0"/>
          </a:p>
        </p:txBody>
      </p:sp>
      <p:sp>
        <p:nvSpPr>
          <p:cNvPr id="8" name="Text 5"/>
          <p:cNvSpPr/>
          <p:nvPr/>
        </p:nvSpPr>
        <p:spPr>
          <a:xfrm>
            <a:off x="8092440" y="4392778"/>
            <a:ext cx="3566160" cy="590702"/>
          </a:xfrm>
          <a:prstGeom prst="rect">
            <a:avLst/>
          </a:prstGeom>
          <a:noFill/>
          <a:ln/>
        </p:spPr>
        <p:txBody>
          <a:bodyPr wrap="square" rtlCol="0" anchor="t"/>
          <a:lstStyle/>
          <a:p>
            <a:pPr algn="ctr" indent="0" marL="0">
              <a:buNone/>
            </a:pPr>
            <a:r>
              <a:rPr lang="en-US" sz="1100" dirty="0">
                <a:solidFill>
                  <a:srgbClr val="434143"/>
                </a:solidFill>
                <a:latin typeface="Arial" pitchFamily="34" charset="0"/>
                <a:ea typeface="Arial" pitchFamily="34" charset="-122"/>
                <a:cs typeface="Arial" pitchFamily="34" charset="-120"/>
              </a:rPr>
              <a:t>cost-effectives a un CET de 485 $/DALY</a:t>
            </a:r>
            <a:endParaRPr lang="en-US" sz="1100" dirty="0"/>
          </a:p>
        </p:txBody>
      </p:sp>
      <p:sp>
        <p:nvSpPr>
          <p:cNvPr id="9" name="Text 6"/>
          <p:cNvSpPr/>
          <p:nvPr/>
        </p:nvSpPr>
        <p:spPr>
          <a:xfrm>
            <a:off x="8092440" y="5120640"/>
            <a:ext cx="3566160" cy="914400"/>
          </a:xfrm>
          <a:prstGeom prst="rect">
            <a:avLst/>
          </a:prstGeom>
          <a:noFill/>
          <a:ln/>
        </p:spPr>
        <p:txBody>
          <a:bodyPr wrap="square" rtlCol="0" anchor="t"/>
          <a:lstStyle/>
          <a:p>
            <a:pPr algn="l" indent="0" marL="0">
              <a:buNone/>
            </a:pPr>
            <a:r>
              <a:rPr lang="en-US" sz="1150" i="1" dirty="0">
                <a:solidFill>
                  <a:srgbClr val="7C797C"/>
                </a:solidFill>
                <a:latin typeface="Arial" pitchFamily="34" charset="0"/>
                <a:ea typeface="Arial" pitchFamily="34" charset="-122"/>
                <a:cs typeface="Arial" pitchFamily="34" charset="-120"/>
              </a:rPr>
              <a:t>Quatre filtres successifs : lien a une cause GBD prioritaire, cout unitaire disponible, effet mesure, volume de cas disponible.</a:t>
            </a:r>
            <a:endParaRPr lang="en-US" sz="1150" dirty="0"/>
          </a:p>
        </p:txBody>
      </p:sp>
      <p:sp>
        <p:nvSpPr>
          <p:cNvPr id="10" name="Text 7"/>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11" name="Text 8"/>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RESULTATS  -  COST-EFFECTIVENESS</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3000" b="1" dirty="0">
                <a:solidFill>
                  <a:srgbClr val="000066"/>
                </a:solidFill>
                <a:latin typeface="Arial" pitchFamily="34" charset="0"/>
                <a:ea typeface="Arial" pitchFamily="34" charset="-122"/>
                <a:cs typeface="Arial" pitchFamily="34" charset="-120"/>
              </a:rPr>
              <a:t>Classer par benefice net, pas seulement par rentabilite</a:t>
            </a:r>
            <a:endParaRPr lang="en-US" sz="3000" dirty="0"/>
          </a:p>
        </p:txBody>
      </p:sp>
      <p:pic>
        <p:nvPicPr>
          <p:cNvPr id="4" name="Image 0" descr="/tmp/claude-0/-home-user-Tuto-test/c5af62e6-580a-50f7-99b9-aad76c71bea2/scratchpad/pptx/fig6_net_benefit_ranked.png">    </p:cNvPr>
          <p:cNvPicPr>
            <a:picLocks noChangeAspect="1"/>
          </p:cNvPicPr>
          <p:nvPr/>
        </p:nvPicPr>
        <p:blipFill>
          <a:blip r:embed="rId1"/>
          <a:stretch>
            <a:fillRect/>
          </a:stretch>
        </p:blipFill>
        <p:spPr>
          <a:xfrm>
            <a:off x="1912468" y="1783080"/>
            <a:ext cx="8366760" cy="4572000"/>
          </a:xfrm>
          <a:prstGeom prst="rect">
            <a:avLst/>
          </a:prstGeom>
        </p:spPr>
      </p:pic>
      <p:sp>
        <p:nvSpPr>
          <p:cNvPr id="5" name="Text 2"/>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6" name="Text 3"/>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METHODE  -  OPTIMISATION SOUS CONTRAINTES</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3000" b="1" dirty="0">
                <a:solidFill>
                  <a:srgbClr val="000066"/>
                </a:solidFill>
                <a:latin typeface="Arial" pitchFamily="34" charset="0"/>
                <a:ea typeface="Arial" pitchFamily="34" charset="-122"/>
                <a:cs typeface="Arial" pitchFamily="34" charset="-120"/>
              </a:rPr>
              <a:t>Etre rentable ne suffit pas : peut-on le livrer ?</a:t>
            </a:r>
            <a:endParaRPr lang="en-US" sz="3000" dirty="0"/>
          </a:p>
        </p:txBody>
      </p:sp>
      <p:sp>
        <p:nvSpPr>
          <p:cNvPr id="4" name="Text 2"/>
          <p:cNvSpPr/>
          <p:nvPr/>
        </p:nvSpPr>
        <p:spPr>
          <a:xfrm>
            <a:off x="548640" y="1783080"/>
            <a:ext cx="5212080" cy="4206240"/>
          </a:xfrm>
          <a:prstGeom prst="rect">
            <a:avLst/>
          </a:prstGeom>
          <a:noFill/>
          <a:ln/>
        </p:spPr>
        <p:txBody>
          <a:bodyPr wrap="square" rtlCol="0" anchor="t"/>
          <a:lstStyle/>
          <a:p>
            <a:pPr algn="l" marL="228600" indent="-228600">
              <a:spcAft>
                <a:spcPts val="1600"/>
              </a:spcAft>
              <a:buSzPct val="100000"/>
              <a:buChar char="•"/>
            </a:pPr>
            <a:r>
              <a:rPr lang="en-US" sz="1550" dirty="0">
                <a:solidFill>
                  <a:srgbClr val="434143"/>
                </a:solidFill>
                <a:latin typeface="Arial" pitchFamily="34" charset="0"/>
                <a:ea typeface="Arial" pitchFamily="34" charset="-122"/>
                <a:cs typeface="Arial" pitchFamily="34" charset="-120"/>
              </a:rPr>
              <a:t>Un programme lineaire choisit le niveau de couverture de chaque intervention pour maximiser le benefice net de sante</a:t>
            </a:r>
            <a:endParaRPr lang="en-US" sz="1550" dirty="0"/>
          </a:p>
          <a:p>
            <a:pPr algn="l" marL="228600" indent="-228600">
              <a:spcAft>
                <a:spcPts val="1600"/>
              </a:spcAft>
              <a:buSzPct val="100000"/>
              <a:buChar char="•"/>
            </a:pPr>
            <a:r>
              <a:rPr lang="en-US" sz="1550" dirty="0">
                <a:solidFill>
                  <a:srgbClr val="434143"/>
                </a:solidFill>
                <a:latin typeface="Arial" pitchFamily="34" charset="0"/>
                <a:ea typeface="Arial" pitchFamily="34" charset="-122"/>
                <a:cs typeface="Arial" pitchFamily="34" charset="-120"/>
              </a:rPr>
              <a:t>Contrainte financiere : budget consommables disponible</a:t>
            </a:r>
            <a:endParaRPr lang="en-US" sz="1550" dirty="0"/>
          </a:p>
          <a:p>
            <a:pPr algn="l" marL="228600" indent="-228600">
              <a:spcAft>
                <a:spcPts val="1600"/>
              </a:spcAft>
              <a:buSzPct val="100000"/>
              <a:buChar char="•"/>
            </a:pPr>
            <a:r>
              <a:rPr lang="en-US" sz="1550" dirty="0">
                <a:solidFill>
                  <a:srgbClr val="434143"/>
                </a:solidFill>
                <a:latin typeface="Arial" pitchFamily="34" charset="0"/>
                <a:ea typeface="Arial" pitchFamily="34" charset="-122"/>
                <a:cs typeface="Arial" pitchFamily="34" charset="-120"/>
              </a:rPr>
              <a:t>Contrainte de ressources humaines : temps disponible par corps de metier (medecins, infirmiers, pharmaciens...)</a:t>
            </a:r>
            <a:endParaRPr lang="en-US" sz="1550" dirty="0"/>
          </a:p>
        </p:txBody>
      </p:sp>
      <p:sp>
        <p:nvSpPr>
          <p:cNvPr id="5" name="Shape 3"/>
          <p:cNvSpPr/>
          <p:nvPr/>
        </p:nvSpPr>
        <p:spPr>
          <a:xfrm>
            <a:off x="6537960" y="1783080"/>
            <a:ext cx="5074920" cy="4206240"/>
          </a:xfrm>
          <a:prstGeom prst="roundRect">
            <a:avLst>
              <a:gd name="adj" fmla="val 1739"/>
            </a:avLst>
          </a:prstGeom>
          <a:solidFill>
            <a:srgbClr val="000066"/>
          </a:solidFill>
          <a:ln/>
        </p:spPr>
      </p:sp>
      <p:sp>
        <p:nvSpPr>
          <p:cNvPr id="6" name="Text 4"/>
          <p:cNvSpPr/>
          <p:nvPr/>
        </p:nvSpPr>
        <p:spPr>
          <a:xfrm>
            <a:off x="6858000" y="2011680"/>
            <a:ext cx="4480560" cy="457200"/>
          </a:xfrm>
          <a:prstGeom prst="rect">
            <a:avLst/>
          </a:prstGeom>
          <a:noFill/>
          <a:ln/>
        </p:spPr>
        <p:txBody>
          <a:bodyPr wrap="square"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Ce que ca change concretement</a:t>
            </a:r>
            <a:endParaRPr lang="en-US" sz="1500" dirty="0"/>
          </a:p>
        </p:txBody>
      </p:sp>
      <p:sp>
        <p:nvSpPr>
          <p:cNvPr id="7" name="Text 5"/>
          <p:cNvSpPr/>
          <p:nvPr/>
        </p:nvSpPr>
        <p:spPr>
          <a:xfrm>
            <a:off x="6858000" y="2560320"/>
            <a:ext cx="4480560" cy="3200400"/>
          </a:xfrm>
          <a:prstGeom prst="rect">
            <a:avLst/>
          </a:prstGeom>
          <a:noFill/>
          <a:ln/>
        </p:spPr>
        <p:txBody>
          <a:bodyPr wrap="square" rtlCol="0" anchor="t"/>
          <a:lstStyle/>
          <a:p>
            <a:pPr algn="l" marL="228600" indent="-228600">
              <a:spcAft>
                <a:spcPts val="1200"/>
              </a:spcAft>
              <a:buSzPct val="100000"/>
              <a:buChar char="•"/>
            </a:pPr>
            <a:r>
              <a:rPr lang="en-US" sz="1350" dirty="0">
                <a:solidFill>
                  <a:srgbClr val="FFFFFF"/>
                </a:solidFill>
                <a:latin typeface="Arial" pitchFamily="34" charset="0"/>
                <a:ea typeface="Arial" pitchFamily="34" charset="-122"/>
                <a:cs typeface="Arial" pitchFamily="34" charset="-120"/>
              </a:rPr>
              <a:t>Une hausse du budget, du personnel ou du CET peut faire entrer de nouvelles interventions dans le paquet</a:t>
            </a:r>
            <a:endParaRPr lang="en-US" sz="1350" dirty="0"/>
          </a:p>
          <a:p>
            <a:pPr algn="l" marL="228600" indent="-228600">
              <a:spcAft>
                <a:spcPts val="1200"/>
              </a:spcAft>
              <a:buSzPct val="100000"/>
              <a:buChar char="•"/>
            </a:pPr>
            <a:r>
              <a:rPr lang="en-US" sz="1350" dirty="0">
                <a:solidFill>
                  <a:srgbClr val="FFFFFF"/>
                </a:solidFill>
                <a:latin typeface="Arial" pitchFamily="34" charset="0"/>
                <a:ea typeface="Arial" pitchFamily="34" charset="-122"/>
                <a:cs typeface="Arial" pitchFamily="34" charset="-120"/>
              </a:rPr>
              <a:t>A l'inverse, une contrainte plus serree en exclut certaines, meme rentables</a:t>
            </a:r>
            <a:endParaRPr lang="en-US" sz="1350" dirty="0"/>
          </a:p>
          <a:p>
            <a:pPr algn="l" marL="228600" indent="-228600">
              <a:spcAft>
                <a:spcPts val="1200"/>
              </a:spcAft>
              <a:buSzPct val="100000"/>
              <a:buChar char="•"/>
            </a:pPr>
            <a:r>
              <a:rPr lang="en-US" sz="1350" dirty="0">
                <a:solidFill>
                  <a:srgbClr val="FFFFFF"/>
                </a:solidFill>
                <a:latin typeface="Arial" pitchFamily="34" charset="0"/>
                <a:ea typeface="Arial" pitchFamily="34" charset="-122"/>
                <a:cs typeface="Arial" pitchFamily="34" charset="-120"/>
              </a:rPr>
              <a:t>Le modele identifie precisement quelle ressource bloque, et de combien</a:t>
            </a:r>
            <a:endParaRPr lang="en-US" sz="1350" dirty="0"/>
          </a:p>
        </p:txBody>
      </p:sp>
      <p:sp>
        <p:nvSpPr>
          <p:cNvPr id="8" name="Text 6"/>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9"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RESULTATS  -  OPTIMISATION</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3000" b="1" dirty="0">
                <a:solidFill>
                  <a:srgbClr val="000066"/>
                </a:solidFill>
                <a:latin typeface="Arial" pitchFamily="34" charset="0"/>
                <a:ea typeface="Arial" pitchFamily="34" charset="-122"/>
                <a:cs typeface="Arial" pitchFamily="34" charset="-120"/>
              </a:rPr>
              <a:t>Le vrai goulot d'etranglement : le personnel, pas les interventions</a:t>
            </a:r>
            <a:endParaRPr lang="en-US" sz="3000" dirty="0"/>
          </a:p>
        </p:txBody>
      </p:sp>
      <p:pic>
        <p:nvPicPr>
          <p:cNvPr id="4" name="Image 0" descr="/tmp/claude-0/-home-user-Tuto-test/c5af62e6-580a-50f7-99b9-aad76c71bea2/scratchpad/pptx/optimization_fig0_resource_gap.png">    </p:cNvPr>
          <p:cNvPicPr>
            <a:picLocks noChangeAspect="1"/>
          </p:cNvPicPr>
          <p:nvPr/>
        </p:nvPicPr>
        <p:blipFill>
          <a:blip r:embed="rId1"/>
          <a:stretch>
            <a:fillRect/>
          </a:stretch>
        </p:blipFill>
        <p:spPr>
          <a:xfrm>
            <a:off x="822960" y="1600200"/>
            <a:ext cx="3995928" cy="4663440"/>
          </a:xfrm>
          <a:prstGeom prst="rect">
            <a:avLst/>
          </a:prstGeom>
        </p:spPr>
      </p:pic>
      <p:sp>
        <p:nvSpPr>
          <p:cNvPr id="5" name="Text 2"/>
          <p:cNvSpPr/>
          <p:nvPr/>
        </p:nvSpPr>
        <p:spPr>
          <a:xfrm>
            <a:off x="5577840" y="1691640"/>
            <a:ext cx="6035040" cy="4754880"/>
          </a:xfrm>
          <a:prstGeom prst="rect">
            <a:avLst/>
          </a:prstGeom>
          <a:noFill/>
          <a:ln/>
        </p:spPr>
        <p:txBody>
          <a:bodyPr wrap="square" rtlCol="0" anchor="t"/>
          <a:lstStyle/>
          <a:p>
            <a:pPr algn="l" marL="228600" indent="-228600">
              <a:spcAft>
                <a:spcPts val="1600"/>
              </a:spcAft>
              <a:buSzPct val="100000"/>
              <a:buChar char="•"/>
            </a:pPr>
            <a:r>
              <a:rPr lang="en-US" sz="1500" dirty="0">
                <a:solidFill>
                  <a:srgbClr val="434143"/>
                </a:solidFill>
                <a:latin typeface="Arial" pitchFamily="34" charset="0"/>
                <a:ea typeface="Arial" pitchFamily="34" charset="-122"/>
                <a:cs typeface="Arial" pitchFamily="34" charset="-120"/>
              </a:rPr>
              <a:t>Sans contrainte : le personnel de sante mentale devrait etre multiplie par plus de 6, le budget consommables par plus de 5</a:t>
            </a:r>
            <a:endParaRPr lang="en-US" sz="1500" dirty="0"/>
          </a:p>
          <a:p>
            <a:pPr algn="l" marL="228600" indent="-228600">
              <a:spcAft>
                <a:spcPts val="1600"/>
              </a:spcAft>
              <a:buSzPct val="100000"/>
              <a:buChar char="•"/>
            </a:pPr>
            <a:r>
              <a:rPr lang="en-US" sz="1500" dirty="0">
                <a:solidFill>
                  <a:srgbClr val="434143"/>
                </a:solidFill>
                <a:latin typeface="Arial" pitchFamily="34" charset="0"/>
                <a:ea typeface="Arial" pitchFamily="34" charset="-122"/>
                <a:cs typeface="Arial" pitchFamily="34" charset="-120"/>
              </a:rPr>
              <a:t>Une fois les contraintes appliquees, le budget consomme 100% de l'enveloppe : c'est lui qui plafonne le paquet</a:t>
            </a:r>
            <a:endParaRPr lang="en-US" sz="1500" dirty="0"/>
          </a:p>
          <a:p>
            <a:pPr algn="l" marL="228600" indent="-228600">
              <a:spcAft>
                <a:spcPts val="1600"/>
              </a:spcAft>
              <a:buSzPct val="100000"/>
              <a:buChar char="•"/>
            </a:pPr>
            <a:r>
              <a:rPr lang="en-US" sz="1500" dirty="0">
                <a:solidFill>
                  <a:srgbClr val="434143"/>
                </a:solidFill>
                <a:latin typeface="Arial" pitchFamily="34" charset="0"/>
                <a:ea typeface="Arial" pitchFamily="34" charset="-122"/>
                <a:cs typeface="Arial" pitchFamily="34" charset="-120"/>
              </a:rPr>
              <a:t>Le personnel medical general garde de la marge, mais la sante mentale est evincee presque entierement</a:t>
            </a:r>
            <a:endParaRPr lang="en-US" sz="1500" dirty="0"/>
          </a:p>
        </p:txBody>
      </p:sp>
      <p:sp>
        <p:nvSpPr>
          <p:cNvPr id="6" name="Text 3"/>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7" name="Text 4"/>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RESULTATS  -  OPTIMISATION</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3000" b="1" dirty="0">
                <a:solidFill>
                  <a:srgbClr val="000066"/>
                </a:solidFill>
                <a:latin typeface="Arial" pitchFamily="34" charset="0"/>
                <a:ea typeface="Arial" pitchFamily="34" charset="-122"/>
                <a:cs typeface="Arial" pitchFamily="34" charset="-120"/>
              </a:rPr>
              <a:t>Quatre scenarios, un arbitrage explicite</a:t>
            </a:r>
            <a:endParaRPr lang="en-US" sz="3000" dirty="0"/>
          </a:p>
        </p:txBody>
      </p:sp>
      <p:sp>
        <p:nvSpPr>
          <p:cNvPr id="4" name="Shape 2"/>
          <p:cNvSpPr/>
          <p:nvPr/>
        </p:nvSpPr>
        <p:spPr>
          <a:xfrm>
            <a:off x="548640" y="1828800"/>
            <a:ext cx="5760720" cy="502920"/>
          </a:xfrm>
          <a:prstGeom prst="rect">
            <a:avLst/>
          </a:prstGeom>
          <a:solidFill>
            <a:srgbClr val="000066"/>
          </a:solidFill>
          <a:ln/>
        </p:spPr>
      </p:sp>
      <p:sp>
        <p:nvSpPr>
          <p:cNvPr id="5" name="Text 3"/>
          <p:cNvSpPr/>
          <p:nvPr/>
        </p:nvSpPr>
        <p:spPr>
          <a:xfrm>
            <a:off x="685800" y="1828800"/>
            <a:ext cx="5486400" cy="5029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Scenario</a:t>
            </a:r>
            <a:endParaRPr lang="en-US" sz="1300" dirty="0"/>
          </a:p>
        </p:txBody>
      </p:sp>
      <p:sp>
        <p:nvSpPr>
          <p:cNvPr id="6" name="Shape 4"/>
          <p:cNvSpPr/>
          <p:nvPr/>
        </p:nvSpPr>
        <p:spPr>
          <a:xfrm>
            <a:off x="6309360" y="1828800"/>
            <a:ext cx="2743200" cy="502920"/>
          </a:xfrm>
          <a:prstGeom prst="rect">
            <a:avLst/>
          </a:prstGeom>
          <a:solidFill>
            <a:srgbClr val="000066"/>
          </a:solidFill>
          <a:ln/>
        </p:spPr>
      </p:sp>
      <p:sp>
        <p:nvSpPr>
          <p:cNvPr id="7" name="Text 5"/>
          <p:cNvSpPr/>
          <p:nvPr/>
        </p:nvSpPr>
        <p:spPr>
          <a:xfrm>
            <a:off x="6446520" y="1828800"/>
            <a:ext cx="2468880" cy="5029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Interventions</a:t>
            </a:r>
            <a:endParaRPr lang="en-US" sz="1300" dirty="0"/>
          </a:p>
        </p:txBody>
      </p:sp>
      <p:sp>
        <p:nvSpPr>
          <p:cNvPr id="8" name="Shape 6"/>
          <p:cNvSpPr/>
          <p:nvPr/>
        </p:nvSpPr>
        <p:spPr>
          <a:xfrm>
            <a:off x="9052560" y="1828800"/>
            <a:ext cx="2194560" cy="502920"/>
          </a:xfrm>
          <a:prstGeom prst="rect">
            <a:avLst/>
          </a:prstGeom>
          <a:solidFill>
            <a:srgbClr val="000066"/>
          </a:solidFill>
          <a:ln/>
        </p:spPr>
      </p:sp>
      <p:sp>
        <p:nvSpPr>
          <p:cNvPr id="9" name="Text 7"/>
          <p:cNvSpPr/>
          <p:nvPr/>
        </p:nvSpPr>
        <p:spPr>
          <a:xfrm>
            <a:off x="9189720" y="1828800"/>
            <a:ext cx="1920240" cy="5029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DALYs nettes</a:t>
            </a:r>
            <a:endParaRPr lang="en-US" sz="1300" dirty="0"/>
          </a:p>
        </p:txBody>
      </p:sp>
      <p:sp>
        <p:nvSpPr>
          <p:cNvPr id="10" name="Shape 8"/>
          <p:cNvSpPr/>
          <p:nvPr/>
        </p:nvSpPr>
        <p:spPr>
          <a:xfrm>
            <a:off x="548640" y="2331720"/>
            <a:ext cx="5760720" cy="566928"/>
          </a:xfrm>
          <a:prstGeom prst="rect">
            <a:avLst/>
          </a:prstGeom>
          <a:solidFill>
            <a:srgbClr val="FFFFFF"/>
          </a:solidFill>
          <a:ln w="6350">
            <a:solidFill>
              <a:srgbClr val="D0CCD0"/>
            </a:solidFill>
            <a:prstDash val="solid"/>
          </a:ln>
        </p:spPr>
      </p:sp>
      <p:sp>
        <p:nvSpPr>
          <p:cNvPr id="11" name="Text 9"/>
          <p:cNvSpPr/>
          <p:nvPr/>
        </p:nvSpPr>
        <p:spPr>
          <a:xfrm>
            <a:off x="685800" y="2331720"/>
            <a:ext cx="548640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Sans contrainte (CET seul)</a:t>
            </a:r>
            <a:endParaRPr lang="en-US" sz="1300" dirty="0"/>
          </a:p>
        </p:txBody>
      </p:sp>
      <p:sp>
        <p:nvSpPr>
          <p:cNvPr id="12" name="Shape 10"/>
          <p:cNvSpPr/>
          <p:nvPr/>
        </p:nvSpPr>
        <p:spPr>
          <a:xfrm>
            <a:off x="6309360" y="2331720"/>
            <a:ext cx="2743200" cy="566928"/>
          </a:xfrm>
          <a:prstGeom prst="rect">
            <a:avLst/>
          </a:prstGeom>
          <a:solidFill>
            <a:srgbClr val="FFFFFF"/>
          </a:solidFill>
          <a:ln w="6350">
            <a:solidFill>
              <a:srgbClr val="D0CCD0"/>
            </a:solidFill>
            <a:prstDash val="solid"/>
          </a:ln>
        </p:spPr>
      </p:sp>
      <p:sp>
        <p:nvSpPr>
          <p:cNvPr id="13" name="Text 11"/>
          <p:cNvSpPr/>
          <p:nvPr/>
        </p:nvSpPr>
        <p:spPr>
          <a:xfrm>
            <a:off x="6446520" y="2331720"/>
            <a:ext cx="246888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77 / 95</a:t>
            </a:r>
            <a:endParaRPr lang="en-US" sz="1300" dirty="0"/>
          </a:p>
        </p:txBody>
      </p:sp>
      <p:sp>
        <p:nvSpPr>
          <p:cNvPr id="14" name="Shape 12"/>
          <p:cNvSpPr/>
          <p:nvPr/>
        </p:nvSpPr>
        <p:spPr>
          <a:xfrm>
            <a:off x="9052560" y="2331720"/>
            <a:ext cx="2194560" cy="566928"/>
          </a:xfrm>
          <a:prstGeom prst="rect">
            <a:avLst/>
          </a:prstGeom>
          <a:solidFill>
            <a:srgbClr val="FFFFFF"/>
          </a:solidFill>
          <a:ln w="6350">
            <a:solidFill>
              <a:srgbClr val="D0CCD0"/>
            </a:solidFill>
            <a:prstDash val="solid"/>
          </a:ln>
        </p:spPr>
      </p:sp>
      <p:sp>
        <p:nvSpPr>
          <p:cNvPr id="15" name="Text 13"/>
          <p:cNvSpPr/>
          <p:nvPr/>
        </p:nvSpPr>
        <p:spPr>
          <a:xfrm>
            <a:off x="9189720" y="2331720"/>
            <a:ext cx="192024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81,6 M</a:t>
            </a:r>
            <a:endParaRPr lang="en-US" sz="1300" dirty="0"/>
          </a:p>
        </p:txBody>
      </p:sp>
      <p:sp>
        <p:nvSpPr>
          <p:cNvPr id="16" name="Shape 14"/>
          <p:cNvSpPr/>
          <p:nvPr/>
        </p:nvSpPr>
        <p:spPr>
          <a:xfrm>
            <a:off x="548640" y="2898648"/>
            <a:ext cx="5760720" cy="566928"/>
          </a:xfrm>
          <a:prstGeom prst="rect">
            <a:avLst/>
          </a:prstGeom>
          <a:solidFill>
            <a:srgbClr val="E4E2F0"/>
          </a:solidFill>
          <a:ln w="6350">
            <a:solidFill>
              <a:srgbClr val="D0CCD0"/>
            </a:solidFill>
            <a:prstDash val="solid"/>
          </a:ln>
        </p:spPr>
      </p:sp>
      <p:sp>
        <p:nvSpPr>
          <p:cNvPr id="17" name="Text 15"/>
          <p:cNvSpPr/>
          <p:nvPr/>
        </p:nvSpPr>
        <p:spPr>
          <a:xfrm>
            <a:off x="685800" y="2898648"/>
            <a:ext cx="548640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Budget seul ($120M)</a:t>
            </a:r>
            <a:endParaRPr lang="en-US" sz="1300" dirty="0"/>
          </a:p>
        </p:txBody>
      </p:sp>
      <p:sp>
        <p:nvSpPr>
          <p:cNvPr id="18" name="Shape 16"/>
          <p:cNvSpPr/>
          <p:nvPr/>
        </p:nvSpPr>
        <p:spPr>
          <a:xfrm>
            <a:off x="6309360" y="2898648"/>
            <a:ext cx="2743200" cy="566928"/>
          </a:xfrm>
          <a:prstGeom prst="rect">
            <a:avLst/>
          </a:prstGeom>
          <a:solidFill>
            <a:srgbClr val="E4E2F0"/>
          </a:solidFill>
          <a:ln w="6350">
            <a:solidFill>
              <a:srgbClr val="D0CCD0"/>
            </a:solidFill>
            <a:prstDash val="solid"/>
          </a:ln>
        </p:spPr>
      </p:sp>
      <p:sp>
        <p:nvSpPr>
          <p:cNvPr id="19" name="Text 17"/>
          <p:cNvSpPr/>
          <p:nvPr/>
        </p:nvSpPr>
        <p:spPr>
          <a:xfrm>
            <a:off x="6446520" y="2898648"/>
            <a:ext cx="246888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75 / 85</a:t>
            </a:r>
            <a:endParaRPr lang="en-US" sz="1300" dirty="0"/>
          </a:p>
        </p:txBody>
      </p:sp>
      <p:sp>
        <p:nvSpPr>
          <p:cNvPr id="20" name="Shape 18"/>
          <p:cNvSpPr/>
          <p:nvPr/>
        </p:nvSpPr>
        <p:spPr>
          <a:xfrm>
            <a:off x="9052560" y="2898648"/>
            <a:ext cx="2194560" cy="566928"/>
          </a:xfrm>
          <a:prstGeom prst="rect">
            <a:avLst/>
          </a:prstGeom>
          <a:solidFill>
            <a:srgbClr val="E4E2F0"/>
          </a:solidFill>
          <a:ln w="6350">
            <a:solidFill>
              <a:srgbClr val="D0CCD0"/>
            </a:solidFill>
            <a:prstDash val="solid"/>
          </a:ln>
        </p:spPr>
      </p:sp>
      <p:sp>
        <p:nvSpPr>
          <p:cNvPr id="21" name="Text 19"/>
          <p:cNvSpPr/>
          <p:nvPr/>
        </p:nvSpPr>
        <p:spPr>
          <a:xfrm>
            <a:off x="9189720" y="2898648"/>
            <a:ext cx="192024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71,7 M</a:t>
            </a:r>
            <a:endParaRPr lang="en-US" sz="1300" dirty="0"/>
          </a:p>
        </p:txBody>
      </p:sp>
      <p:sp>
        <p:nvSpPr>
          <p:cNvPr id="22" name="Shape 20"/>
          <p:cNvSpPr/>
          <p:nvPr/>
        </p:nvSpPr>
        <p:spPr>
          <a:xfrm>
            <a:off x="548640" y="3465576"/>
            <a:ext cx="5760720" cy="566928"/>
          </a:xfrm>
          <a:prstGeom prst="rect">
            <a:avLst/>
          </a:prstGeom>
          <a:solidFill>
            <a:srgbClr val="FFFFFF"/>
          </a:solidFill>
          <a:ln w="6350">
            <a:solidFill>
              <a:srgbClr val="D0CCD0"/>
            </a:solidFill>
            <a:prstDash val="solid"/>
          </a:ln>
        </p:spPr>
      </p:sp>
      <p:sp>
        <p:nvSpPr>
          <p:cNvPr id="23" name="Text 21"/>
          <p:cNvSpPr/>
          <p:nvPr/>
        </p:nvSpPr>
        <p:spPr>
          <a:xfrm>
            <a:off x="685800" y="3465576"/>
            <a:ext cx="548640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Scenario de base (budget + RH)</a:t>
            </a:r>
            <a:endParaRPr lang="en-US" sz="1300" dirty="0"/>
          </a:p>
        </p:txBody>
      </p:sp>
      <p:sp>
        <p:nvSpPr>
          <p:cNvPr id="24" name="Shape 22"/>
          <p:cNvSpPr/>
          <p:nvPr/>
        </p:nvSpPr>
        <p:spPr>
          <a:xfrm>
            <a:off x="6309360" y="3465576"/>
            <a:ext cx="2743200" cy="566928"/>
          </a:xfrm>
          <a:prstGeom prst="rect">
            <a:avLst/>
          </a:prstGeom>
          <a:solidFill>
            <a:srgbClr val="FFFFFF"/>
          </a:solidFill>
          <a:ln w="6350">
            <a:solidFill>
              <a:srgbClr val="D0CCD0"/>
            </a:solidFill>
            <a:prstDash val="solid"/>
          </a:ln>
        </p:spPr>
      </p:sp>
      <p:sp>
        <p:nvSpPr>
          <p:cNvPr id="25" name="Text 23"/>
          <p:cNvSpPr/>
          <p:nvPr/>
        </p:nvSpPr>
        <p:spPr>
          <a:xfrm>
            <a:off x="6446520" y="3465576"/>
            <a:ext cx="246888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46 / 68</a:t>
            </a:r>
            <a:endParaRPr lang="en-US" sz="1300" dirty="0"/>
          </a:p>
        </p:txBody>
      </p:sp>
      <p:sp>
        <p:nvSpPr>
          <p:cNvPr id="26" name="Shape 24"/>
          <p:cNvSpPr/>
          <p:nvPr/>
        </p:nvSpPr>
        <p:spPr>
          <a:xfrm>
            <a:off x="9052560" y="3465576"/>
            <a:ext cx="2194560" cy="566928"/>
          </a:xfrm>
          <a:prstGeom prst="rect">
            <a:avLst/>
          </a:prstGeom>
          <a:solidFill>
            <a:srgbClr val="FFFFFF"/>
          </a:solidFill>
          <a:ln w="6350">
            <a:solidFill>
              <a:srgbClr val="D0CCD0"/>
            </a:solidFill>
            <a:prstDash val="solid"/>
          </a:ln>
        </p:spPr>
      </p:sp>
      <p:sp>
        <p:nvSpPr>
          <p:cNvPr id="27" name="Text 25"/>
          <p:cNvSpPr/>
          <p:nvPr/>
        </p:nvSpPr>
        <p:spPr>
          <a:xfrm>
            <a:off x="9189720" y="3465576"/>
            <a:ext cx="192024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a:t>
            </a:r>
            <a:endParaRPr lang="en-US" sz="1300" dirty="0"/>
          </a:p>
        </p:txBody>
      </p:sp>
      <p:sp>
        <p:nvSpPr>
          <p:cNvPr id="28" name="Shape 26"/>
          <p:cNvSpPr/>
          <p:nvPr/>
        </p:nvSpPr>
        <p:spPr>
          <a:xfrm>
            <a:off x="548640" y="4032504"/>
            <a:ext cx="5760720" cy="566928"/>
          </a:xfrm>
          <a:prstGeom prst="rect">
            <a:avLst/>
          </a:prstGeom>
          <a:solidFill>
            <a:srgbClr val="E4E2F0"/>
          </a:solidFill>
          <a:ln w="6350">
            <a:solidFill>
              <a:srgbClr val="D0CCD0"/>
            </a:solidFill>
            <a:prstDash val="solid"/>
          </a:ln>
        </p:spPr>
      </p:sp>
      <p:sp>
        <p:nvSpPr>
          <p:cNvPr id="29" name="Text 27"/>
          <p:cNvSpPr/>
          <p:nvPr/>
        </p:nvSpPr>
        <p:spPr>
          <a:xfrm>
            <a:off x="685800" y="4032504"/>
            <a:ext cx="548640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Avec transfert de taches</a:t>
            </a:r>
            <a:endParaRPr lang="en-US" sz="1300" dirty="0"/>
          </a:p>
        </p:txBody>
      </p:sp>
      <p:sp>
        <p:nvSpPr>
          <p:cNvPr id="30" name="Shape 28"/>
          <p:cNvSpPr/>
          <p:nvPr/>
        </p:nvSpPr>
        <p:spPr>
          <a:xfrm>
            <a:off x="6309360" y="4032504"/>
            <a:ext cx="2743200" cy="566928"/>
          </a:xfrm>
          <a:prstGeom prst="rect">
            <a:avLst/>
          </a:prstGeom>
          <a:solidFill>
            <a:srgbClr val="E4E2F0"/>
          </a:solidFill>
          <a:ln w="6350">
            <a:solidFill>
              <a:srgbClr val="D0CCD0"/>
            </a:solidFill>
            <a:prstDash val="solid"/>
          </a:ln>
        </p:spPr>
      </p:sp>
      <p:sp>
        <p:nvSpPr>
          <p:cNvPr id="31" name="Text 29"/>
          <p:cNvSpPr/>
          <p:nvPr/>
        </p:nvSpPr>
        <p:spPr>
          <a:xfrm>
            <a:off x="6446520" y="4032504"/>
            <a:ext cx="246888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56 / 68</a:t>
            </a:r>
            <a:endParaRPr lang="en-US" sz="1300" dirty="0"/>
          </a:p>
        </p:txBody>
      </p:sp>
      <p:sp>
        <p:nvSpPr>
          <p:cNvPr id="32" name="Shape 30"/>
          <p:cNvSpPr/>
          <p:nvPr/>
        </p:nvSpPr>
        <p:spPr>
          <a:xfrm>
            <a:off x="9052560" y="4032504"/>
            <a:ext cx="2194560" cy="566928"/>
          </a:xfrm>
          <a:prstGeom prst="rect">
            <a:avLst/>
          </a:prstGeom>
          <a:solidFill>
            <a:srgbClr val="E4E2F0"/>
          </a:solidFill>
          <a:ln w="6350">
            <a:solidFill>
              <a:srgbClr val="D0CCD0"/>
            </a:solidFill>
            <a:prstDash val="solid"/>
          </a:ln>
        </p:spPr>
      </p:sp>
      <p:sp>
        <p:nvSpPr>
          <p:cNvPr id="33" name="Text 31"/>
          <p:cNvSpPr/>
          <p:nvPr/>
        </p:nvSpPr>
        <p:spPr>
          <a:xfrm>
            <a:off x="9189720" y="4032504"/>
            <a:ext cx="192024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a:t>
            </a:r>
            <a:endParaRPr lang="en-US" sz="1300" dirty="0"/>
          </a:p>
        </p:txBody>
      </p:sp>
      <p:sp>
        <p:nvSpPr>
          <p:cNvPr id="34" name="Text 32"/>
          <p:cNvSpPr/>
          <p:nvPr/>
        </p:nvSpPr>
        <p:spPr>
          <a:xfrm>
            <a:off x="548640" y="4919472"/>
            <a:ext cx="10607040" cy="914400"/>
          </a:xfrm>
          <a:prstGeom prst="rect">
            <a:avLst/>
          </a:prstGeom>
          <a:noFill/>
          <a:ln/>
        </p:spPr>
        <p:txBody>
          <a:bodyPr wrap="square" rtlCol="0" anchor="t"/>
          <a:lstStyle/>
          <a:p>
            <a:pPr algn="l" indent="0" marL="0">
              <a:buNone/>
            </a:pPr>
            <a:r>
              <a:rPr lang="en-US" sz="1350" i="1" dirty="0">
                <a:solidFill>
                  <a:srgbClr val="7C797C"/>
                </a:solidFill>
                <a:latin typeface="Arial" pitchFamily="34" charset="0"/>
                <a:ea typeface="Arial" pitchFamily="34" charset="-122"/>
                <a:cs typeface="Arial" pitchFamily="34" charset="-120"/>
              </a:rPr>
              <a:t>Le transfert de taches pharmacie/nutrition vers les infirmiers leve le goulot pharmaceutique et fait entrer 10 interventions de plus, au prix d'un temps medecin/infirmier plus eleve.</a:t>
            </a:r>
            <a:endParaRPr lang="en-US" sz="1350" dirty="0"/>
          </a:p>
        </p:txBody>
      </p:sp>
      <p:sp>
        <p:nvSpPr>
          <p:cNvPr id="35" name="Text 33"/>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36" name="Text 34"/>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METHODE  -  DCEA</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3000" b="1" dirty="0">
                <a:solidFill>
                  <a:srgbClr val="000066"/>
                </a:solidFill>
                <a:latin typeface="Arial" pitchFamily="34" charset="0"/>
                <a:ea typeface="Arial" pitchFamily="34" charset="-122"/>
                <a:cs typeface="Arial" pitchFamily="34" charset="-120"/>
              </a:rPr>
              <a:t>Etre efficace ne garantit pas d'etre equitable</a:t>
            </a:r>
            <a:endParaRPr lang="en-US" sz="3000" dirty="0"/>
          </a:p>
        </p:txBody>
      </p:sp>
      <p:sp>
        <p:nvSpPr>
          <p:cNvPr id="4" name="Text 2"/>
          <p:cNvSpPr/>
          <p:nvPr/>
        </p:nvSpPr>
        <p:spPr>
          <a:xfrm>
            <a:off x="548640" y="1783080"/>
            <a:ext cx="5394960" cy="4206240"/>
          </a:xfrm>
          <a:prstGeom prst="rect">
            <a:avLst/>
          </a:prstGeom>
          <a:noFill/>
          <a:ln/>
        </p:spPr>
        <p:txBody>
          <a:bodyPr wrap="square" rtlCol="0" anchor="t"/>
          <a:lstStyle/>
          <a:p>
            <a:pPr algn="l" marL="228600" indent="-228600">
              <a:spcAft>
                <a:spcPts val="1400"/>
              </a:spcAft>
              <a:buSzPct val="100000"/>
              <a:buChar char="•"/>
            </a:pPr>
            <a:r>
              <a:rPr lang="en-US" sz="1550" dirty="0">
                <a:solidFill>
                  <a:srgbClr val="434143"/>
                </a:solidFill>
                <a:latin typeface="Arial" pitchFamily="34" charset="0"/>
                <a:ea typeface="Arial" pitchFamily="34" charset="-122"/>
                <a:cs typeface="Arial" pitchFamily="34" charset="-120"/>
              </a:rPr>
              <a:t>La DCEA repartit le benefice de chaque intervention entre quintiles de richesse et entre milieu urbain/rural</a:t>
            </a:r>
            <a:endParaRPr lang="en-US" sz="1550" dirty="0"/>
          </a:p>
          <a:p>
            <a:pPr algn="l" marL="228600" indent="-228600">
              <a:spcAft>
                <a:spcPts val="1400"/>
              </a:spcAft>
              <a:buSzPct val="100000"/>
              <a:buChar char="•"/>
            </a:pPr>
            <a:r>
              <a:rPr lang="en-US" sz="1550" dirty="0">
                <a:solidFill>
                  <a:srgbClr val="434143"/>
                </a:solidFill>
                <a:latin typeface="Arial" pitchFamily="34" charset="0"/>
                <a:ea typeface="Arial" pitchFamily="34" charset="-122"/>
                <a:cs typeface="Arial" pitchFamily="34" charset="-120"/>
              </a:rPr>
              <a:t>Un indice d'Atkinson resume la sante de chaque groupe en un seul chiffre (EDE), sensible aux ecarts entre groupes</a:t>
            </a:r>
            <a:endParaRPr lang="en-US" sz="1550" dirty="0"/>
          </a:p>
          <a:p>
            <a:pPr algn="l" marL="228600" indent="-228600">
              <a:spcAft>
                <a:spcPts val="1400"/>
              </a:spcAft>
              <a:buSzPct val="100000"/>
              <a:buChar char="•"/>
            </a:pPr>
            <a:r>
              <a:rPr lang="en-US" sz="1550" dirty="0">
                <a:solidFill>
                  <a:srgbClr val="434143"/>
                </a:solidFill>
                <a:latin typeface="Arial" pitchFamily="34" charset="0"/>
                <a:ea typeface="Arial" pitchFamily="34" charset="-122"/>
                <a:cs typeface="Arial" pitchFamily="34" charset="-120"/>
              </a:rPr>
              <a:t>Un parametre (epsilon) regle a quel point on penalise les inegalites : 10 en reference, teste aussi a 2 et 25</a:t>
            </a:r>
            <a:endParaRPr lang="en-US" sz="1550" dirty="0"/>
          </a:p>
          <a:p>
            <a:pPr algn="l" marL="228600" indent="-228600">
              <a:spcAft>
                <a:spcPts val="1400"/>
              </a:spcAft>
              <a:buSzPct val="100000"/>
              <a:buChar char="•"/>
            </a:pPr>
            <a:r>
              <a:rPr lang="en-US" sz="1550" dirty="0">
                <a:solidFill>
                  <a:srgbClr val="434143"/>
                </a:solidFill>
                <a:latin typeface="Arial" pitchFamily="34" charset="0"/>
                <a:ea typeface="Arial" pitchFamily="34" charset="-122"/>
                <a:cs typeface="Arial" pitchFamily="34" charset="-120"/>
              </a:rPr>
              <a:t>Le resultat : l'impact du paquet sur les inegalites, pas seulement sur la sante moyenne</a:t>
            </a:r>
            <a:endParaRPr lang="en-US" sz="1550" dirty="0"/>
          </a:p>
        </p:txBody>
      </p:sp>
      <p:sp>
        <p:nvSpPr>
          <p:cNvPr id="5" name="Shape 3"/>
          <p:cNvSpPr/>
          <p:nvPr/>
        </p:nvSpPr>
        <p:spPr>
          <a:xfrm>
            <a:off x="6675120" y="1783080"/>
            <a:ext cx="4937760" cy="4206240"/>
          </a:xfrm>
          <a:prstGeom prst="roundRect">
            <a:avLst>
              <a:gd name="adj" fmla="val 1739"/>
            </a:avLst>
          </a:prstGeom>
          <a:solidFill>
            <a:srgbClr val="D0ECFB"/>
          </a:solidFill>
          <a:ln/>
        </p:spPr>
      </p:sp>
      <p:sp>
        <p:nvSpPr>
          <p:cNvPr id="6" name="Text 4"/>
          <p:cNvSpPr/>
          <p:nvPr/>
        </p:nvSpPr>
        <p:spPr>
          <a:xfrm>
            <a:off x="6995160" y="2011680"/>
            <a:ext cx="4297680" cy="457200"/>
          </a:xfrm>
          <a:prstGeom prst="rect">
            <a:avLst/>
          </a:prstGeom>
          <a:noFill/>
          <a:ln/>
        </p:spPr>
        <p:txBody>
          <a:bodyPr wrap="square" rtlCol="0" anchor="ctr"/>
          <a:lstStyle/>
          <a:p>
            <a:pPr algn="l" indent="0" marL="0">
              <a:buNone/>
            </a:pPr>
            <a:r>
              <a:rPr lang="en-US" sz="1500" b="1" dirty="0">
                <a:solidFill>
                  <a:srgbClr val="006699"/>
                </a:solidFill>
                <a:latin typeface="Arial" pitchFamily="34" charset="0"/>
                <a:ea typeface="Arial" pitchFamily="34" charset="-122"/>
                <a:cs typeface="Arial" pitchFamily="34" charset="-120"/>
              </a:rPr>
              <a:t>Lecture du plan d'equite</a:t>
            </a:r>
            <a:endParaRPr lang="en-US" sz="1500" dirty="0"/>
          </a:p>
        </p:txBody>
      </p:sp>
      <p:sp>
        <p:nvSpPr>
          <p:cNvPr id="7" name="Text 5"/>
          <p:cNvSpPr/>
          <p:nvPr/>
        </p:nvSpPr>
        <p:spPr>
          <a:xfrm>
            <a:off x="6995160" y="2560320"/>
            <a:ext cx="4297680" cy="3200400"/>
          </a:xfrm>
          <a:prstGeom prst="rect">
            <a:avLst/>
          </a:prstGeom>
          <a:noFill/>
          <a:ln/>
        </p:spPr>
        <p:txBody>
          <a:bodyPr wrap="square" rtlCol="0" anchor="t"/>
          <a:lstStyle/>
          <a:p>
            <a:pPr algn="l" marL="228600" indent="-228600">
              <a:spcAft>
                <a:spcPts val="1200"/>
              </a:spcAft>
              <a:buSzPct val="100000"/>
              <a:buChar char="•"/>
            </a:pPr>
            <a:r>
              <a:rPr lang="en-US" sz="1350" dirty="0">
                <a:solidFill>
                  <a:srgbClr val="434143"/>
                </a:solidFill>
                <a:latin typeface="Arial" pitchFamily="34" charset="0"/>
                <a:ea typeface="Arial" pitchFamily="34" charset="-122"/>
                <a:cs typeface="Arial" pitchFamily="34" charset="-120"/>
              </a:rPr>
              <a:t>Axe vertical : benefice net de sante total</a:t>
            </a:r>
            <a:endParaRPr lang="en-US" sz="1350" dirty="0"/>
          </a:p>
          <a:p>
            <a:pPr algn="l" marL="228600" indent="-228600">
              <a:spcAft>
                <a:spcPts val="1200"/>
              </a:spcAft>
              <a:buSzPct val="100000"/>
              <a:buChar char="•"/>
            </a:pPr>
            <a:r>
              <a:rPr lang="en-US" sz="1350" dirty="0">
                <a:solidFill>
                  <a:srgbClr val="434143"/>
                </a:solidFill>
                <a:latin typeface="Arial" pitchFamily="34" charset="0"/>
                <a:ea typeface="Arial" pitchFamily="34" charset="-122"/>
                <a:cs typeface="Arial" pitchFamily="34" charset="-120"/>
              </a:rPr>
              <a:t>Axe horizontal : impact sur l'inegalite (a gauche = creuse l'ecart, a droite = le reduit)</a:t>
            </a:r>
            <a:endParaRPr lang="en-US" sz="1350" dirty="0"/>
          </a:p>
          <a:p>
            <a:pPr algn="l" marL="228600" indent="-228600">
              <a:spcAft>
                <a:spcPts val="1200"/>
              </a:spcAft>
              <a:buSzPct val="100000"/>
              <a:buChar char="•"/>
            </a:pPr>
            <a:r>
              <a:rPr lang="en-US" sz="1350" dirty="0">
                <a:solidFill>
                  <a:srgbClr val="434143"/>
                </a:solidFill>
                <a:latin typeface="Arial" pitchFamily="34" charset="0"/>
                <a:ea typeface="Arial" pitchFamily="34" charset="-122"/>
                <a:cs typeface="Arial" pitchFamily="34" charset="-120"/>
              </a:rPr>
              <a:t>Chaque point = une intervention</a:t>
            </a:r>
            <a:endParaRPr lang="en-US" sz="1350" dirty="0"/>
          </a:p>
        </p:txBody>
      </p:sp>
      <p:sp>
        <p:nvSpPr>
          <p:cNvPr id="8" name="Text 6"/>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9"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RESULTATS  -  DCEA</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3000" b="1" dirty="0">
                <a:solidFill>
                  <a:srgbClr val="000066"/>
                </a:solidFill>
                <a:latin typeface="Arial" pitchFamily="34" charset="0"/>
                <a:ea typeface="Arial" pitchFamily="34" charset="-122"/>
                <a:cs typeface="Arial" pitchFamily="34" charset="-120"/>
              </a:rPr>
              <a:t>Une seule intervention porte la majorite du resultat</a:t>
            </a:r>
            <a:endParaRPr lang="en-US" sz="3000" dirty="0"/>
          </a:p>
        </p:txBody>
      </p:sp>
      <p:pic>
        <p:nvPicPr>
          <p:cNvPr id="4" name="Image 0" descr="/tmp/claude-0/-home-user-Tuto-test/c5af62e6-580a-50f7-99b9-aad76c71bea2/scratchpad/pptx/dcea_equity_plane_wealth.png">    </p:cNvPr>
          <p:cNvPicPr>
            <a:picLocks noChangeAspect="1"/>
          </p:cNvPicPr>
          <p:nvPr/>
        </p:nvPicPr>
        <p:blipFill>
          <a:blip r:embed="rId1"/>
          <a:stretch>
            <a:fillRect/>
          </a:stretch>
        </p:blipFill>
        <p:spPr>
          <a:xfrm>
            <a:off x="457200" y="1600200"/>
            <a:ext cx="5943600" cy="4617720"/>
          </a:xfrm>
          <a:prstGeom prst="rect">
            <a:avLst/>
          </a:prstGeom>
        </p:spPr>
      </p:pic>
      <p:sp>
        <p:nvSpPr>
          <p:cNvPr id="5" name="Text 2"/>
          <p:cNvSpPr/>
          <p:nvPr/>
        </p:nvSpPr>
        <p:spPr>
          <a:xfrm>
            <a:off x="6858000" y="1691640"/>
            <a:ext cx="4754880" cy="878738"/>
          </a:xfrm>
          <a:prstGeom prst="rect">
            <a:avLst/>
          </a:prstGeom>
          <a:noFill/>
          <a:ln/>
        </p:spPr>
        <p:txBody>
          <a:bodyPr wrap="square" rtlCol="0" anchor="b"/>
          <a:lstStyle/>
          <a:p>
            <a:pPr algn="ctr" indent="0" marL="0">
              <a:buNone/>
            </a:pPr>
            <a:r>
              <a:rPr lang="en-US" sz="4000" b="1" dirty="0">
                <a:solidFill>
                  <a:srgbClr val="000066"/>
                </a:solidFill>
                <a:latin typeface="Arial" pitchFamily="34" charset="0"/>
                <a:ea typeface="Arial" pitchFamily="34" charset="-122"/>
                <a:cs typeface="Arial" pitchFamily="34" charset="-120"/>
              </a:rPr>
              <a:t>74%</a:t>
            </a:r>
            <a:endParaRPr lang="en-US" sz="4000" dirty="0"/>
          </a:p>
        </p:txBody>
      </p:sp>
      <p:sp>
        <p:nvSpPr>
          <p:cNvPr id="6" name="Text 3"/>
          <p:cNvSpPr/>
          <p:nvPr/>
        </p:nvSpPr>
        <p:spPr>
          <a:xfrm>
            <a:off x="6858000" y="2570378"/>
            <a:ext cx="4754880" cy="538582"/>
          </a:xfrm>
          <a:prstGeom prst="rect">
            <a:avLst/>
          </a:prstGeom>
          <a:noFill/>
          <a:ln/>
        </p:spPr>
        <p:txBody>
          <a:bodyPr wrap="square" rtlCol="0" anchor="t"/>
          <a:lstStyle/>
          <a:p>
            <a:pPr algn="ctr" indent="0" marL="0">
              <a:buNone/>
            </a:pPr>
            <a:r>
              <a:rPr lang="en-US" sz="1100" dirty="0">
                <a:solidFill>
                  <a:srgbClr val="434143"/>
                </a:solidFill>
                <a:latin typeface="Arial" pitchFamily="34" charset="0"/>
                <a:ea typeface="Arial" pitchFamily="34" charset="-122"/>
                <a:cs typeface="Arial" pitchFamily="34" charset="-120"/>
              </a:rPr>
              <a:t>du benefice net total (traitement du paludisme, 0-4 ans)</a:t>
            </a:r>
            <a:endParaRPr lang="en-US" sz="1100" dirty="0"/>
          </a:p>
        </p:txBody>
      </p:sp>
      <p:sp>
        <p:nvSpPr>
          <p:cNvPr id="7" name="Text 4"/>
          <p:cNvSpPr/>
          <p:nvPr/>
        </p:nvSpPr>
        <p:spPr>
          <a:xfrm>
            <a:off x="6858000" y="3246120"/>
            <a:ext cx="4754880" cy="878738"/>
          </a:xfrm>
          <a:prstGeom prst="rect">
            <a:avLst/>
          </a:prstGeom>
          <a:noFill/>
          <a:ln/>
        </p:spPr>
        <p:txBody>
          <a:bodyPr wrap="square" rtlCol="0" anchor="b"/>
          <a:lstStyle/>
          <a:p>
            <a:pPr algn="ctr" indent="0" marL="0">
              <a:buNone/>
            </a:pPr>
            <a:r>
              <a:rPr lang="en-US" sz="4000" b="1" dirty="0">
                <a:solidFill>
                  <a:srgbClr val="000066"/>
                </a:solidFill>
                <a:latin typeface="Arial" pitchFamily="34" charset="0"/>
                <a:ea typeface="Arial" pitchFamily="34" charset="-122"/>
                <a:cs typeface="Arial" pitchFamily="34" charset="-120"/>
              </a:rPr>
              <a:t>-9,8 M</a:t>
            </a:r>
            <a:endParaRPr lang="en-US" sz="4000" dirty="0"/>
          </a:p>
        </p:txBody>
      </p:sp>
      <p:sp>
        <p:nvSpPr>
          <p:cNvPr id="8" name="Text 5"/>
          <p:cNvSpPr/>
          <p:nvPr/>
        </p:nvSpPr>
        <p:spPr>
          <a:xfrm>
            <a:off x="6858000" y="4124858"/>
            <a:ext cx="4754880" cy="538582"/>
          </a:xfrm>
          <a:prstGeom prst="rect">
            <a:avLst/>
          </a:prstGeom>
          <a:noFill/>
          <a:ln/>
        </p:spPr>
        <p:txBody>
          <a:bodyPr wrap="square" rtlCol="0" anchor="t"/>
          <a:lstStyle/>
          <a:p>
            <a:pPr algn="ctr" indent="0" marL="0">
              <a:buNone/>
            </a:pPr>
            <a:r>
              <a:rPr lang="en-US" sz="1100" dirty="0">
                <a:solidFill>
                  <a:srgbClr val="434143"/>
                </a:solidFill>
                <a:latin typeface="Arial" pitchFamily="34" charset="0"/>
                <a:ea typeface="Arial" pitchFamily="34" charset="-122"/>
                <a:cs typeface="Arial" pitchFamily="34" charset="-120"/>
              </a:rPr>
              <a:t>creusement des inegalites de richesse (epsilon=10)</a:t>
            </a:r>
            <a:endParaRPr lang="en-US" sz="1100" dirty="0"/>
          </a:p>
        </p:txBody>
      </p:sp>
      <p:sp>
        <p:nvSpPr>
          <p:cNvPr id="9" name="Text 6"/>
          <p:cNvSpPr/>
          <p:nvPr/>
        </p:nvSpPr>
        <p:spPr>
          <a:xfrm>
            <a:off x="6858000" y="4800600"/>
            <a:ext cx="4754880" cy="878738"/>
          </a:xfrm>
          <a:prstGeom prst="rect">
            <a:avLst/>
          </a:prstGeom>
          <a:noFill/>
          <a:ln/>
        </p:spPr>
        <p:txBody>
          <a:bodyPr wrap="square" rtlCol="0" anchor="b"/>
          <a:lstStyle/>
          <a:p>
            <a:pPr algn="ctr" indent="0" marL="0">
              <a:buNone/>
            </a:pPr>
            <a:r>
              <a:rPr lang="en-US" sz="4000" b="1" dirty="0">
                <a:solidFill>
                  <a:srgbClr val="000066"/>
                </a:solidFill>
                <a:latin typeface="Arial" pitchFamily="34" charset="0"/>
                <a:ea typeface="Arial" pitchFamily="34" charset="-122"/>
                <a:cs typeface="Arial" pitchFamily="34" charset="-120"/>
              </a:rPr>
              <a:t>+9,7 M</a:t>
            </a:r>
            <a:endParaRPr lang="en-US" sz="4000" dirty="0"/>
          </a:p>
        </p:txBody>
      </p:sp>
      <p:sp>
        <p:nvSpPr>
          <p:cNvPr id="10" name="Text 7"/>
          <p:cNvSpPr/>
          <p:nvPr/>
        </p:nvSpPr>
        <p:spPr>
          <a:xfrm>
            <a:off x="6858000" y="5679338"/>
            <a:ext cx="4754880" cy="538582"/>
          </a:xfrm>
          <a:prstGeom prst="rect">
            <a:avLst/>
          </a:prstGeom>
          <a:noFill/>
          <a:ln/>
        </p:spPr>
        <p:txBody>
          <a:bodyPr wrap="square" rtlCol="0" anchor="t"/>
          <a:lstStyle/>
          <a:p>
            <a:pPr algn="ctr" indent="0" marL="0">
              <a:buNone/>
            </a:pPr>
            <a:r>
              <a:rPr lang="en-US" sz="1100" dirty="0">
                <a:solidFill>
                  <a:srgbClr val="434143"/>
                </a:solidFill>
                <a:latin typeface="Arial" pitchFamily="34" charset="0"/>
                <a:ea typeface="Arial" pitchFamily="34" charset="-122"/>
                <a:cs typeface="Arial" pitchFamily="34" charset="-120"/>
              </a:rPr>
              <a:t>reduction de l'ecart urbain/rural</a:t>
            </a:r>
            <a:endParaRPr lang="en-US" sz="1100" dirty="0"/>
          </a:p>
        </p:txBody>
      </p:sp>
      <p:sp>
        <p:nvSpPr>
          <p:cNvPr id="11" name="Text 8"/>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12" name="Text 9"/>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66"/>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SYNTHESE</a:t>
            </a:r>
            <a:endParaRPr lang="en-US" sz="1200" dirty="0"/>
          </a:p>
        </p:txBody>
      </p:sp>
      <p:sp>
        <p:nvSpPr>
          <p:cNvPr id="3" name="Text 1"/>
          <p:cNvSpPr/>
          <p:nvPr/>
        </p:nvSpPr>
        <p:spPr>
          <a:xfrm>
            <a:off x="548640" y="457200"/>
            <a:ext cx="11094415" cy="822960"/>
          </a:xfrm>
          <a:prstGeom prst="rect">
            <a:avLst/>
          </a:prstGeom>
          <a:noFill/>
          <a:ln/>
        </p:spPr>
        <p:txBody>
          <a:bodyPr wrap="square"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Trois messages a retenir</a:t>
            </a:r>
            <a:endParaRPr lang="en-US" sz="3000" dirty="0"/>
          </a:p>
        </p:txBody>
      </p:sp>
      <p:sp>
        <p:nvSpPr>
          <p:cNvPr id="4" name="Shape 2"/>
          <p:cNvSpPr/>
          <p:nvPr/>
        </p:nvSpPr>
        <p:spPr>
          <a:xfrm>
            <a:off x="548640" y="1691640"/>
            <a:ext cx="11094415" cy="1417320"/>
          </a:xfrm>
          <a:prstGeom prst="roundRect">
            <a:avLst>
              <a:gd name="adj" fmla="val 3871"/>
            </a:avLst>
          </a:prstGeom>
          <a:solidFill>
            <a:srgbClr val="1A1A7A"/>
          </a:solidFill>
          <a:ln/>
        </p:spPr>
      </p:sp>
      <p:sp>
        <p:nvSpPr>
          <p:cNvPr id="5" name="Text 3"/>
          <p:cNvSpPr/>
          <p:nvPr/>
        </p:nvSpPr>
        <p:spPr>
          <a:xfrm>
            <a:off x="822960" y="1828800"/>
            <a:ext cx="10545775" cy="411480"/>
          </a:xfrm>
          <a:prstGeom prst="rect">
            <a:avLst/>
          </a:prstGeom>
          <a:noFill/>
          <a:ln/>
        </p:spPr>
        <p:txBody>
          <a:bodyPr wrap="square" rtlCol="0" anchor="ctr"/>
          <a:lstStyle/>
          <a:p>
            <a:pPr algn="l" indent="0" marL="0">
              <a:buNone/>
            </a:pPr>
            <a:r>
              <a:rPr lang="en-US" sz="1600" b="1" dirty="0">
                <a:solidFill>
                  <a:srgbClr val="0099FF"/>
                </a:solidFill>
                <a:latin typeface="Arial" pitchFamily="34" charset="0"/>
                <a:ea typeface="Arial" pitchFamily="34" charset="-122"/>
                <a:cs typeface="Arial" pitchFamily="34" charset="-120"/>
              </a:rPr>
              <a:t>Rentable n'est pas suffisant</a:t>
            </a:r>
            <a:endParaRPr lang="en-US" sz="1600" dirty="0"/>
          </a:p>
        </p:txBody>
      </p:sp>
      <p:sp>
        <p:nvSpPr>
          <p:cNvPr id="6" name="Text 4"/>
          <p:cNvSpPr/>
          <p:nvPr/>
        </p:nvSpPr>
        <p:spPr>
          <a:xfrm>
            <a:off x="822960" y="2240280"/>
            <a:ext cx="10545775" cy="777240"/>
          </a:xfrm>
          <a:prstGeom prst="rect">
            <a:avLst/>
          </a:prstGeom>
          <a:noFill/>
          <a:ln/>
        </p:spPr>
        <p:txBody>
          <a:bodyPr wrap="square" rtlCol="0" anchor="t"/>
          <a:lstStyle/>
          <a:p>
            <a:pPr algn="l" indent="0" marL="0">
              <a:buNone/>
            </a:pPr>
            <a:r>
              <a:rPr lang="en-US" sz="1300" dirty="0">
                <a:solidFill>
                  <a:srgbClr val="FFFFFF"/>
                </a:solidFill>
                <a:latin typeface="Arial" pitchFamily="34" charset="0"/>
                <a:ea typeface="Arial" pitchFamily="34" charset="-122"/>
                <a:cs typeface="Arial" pitchFamily="34" charset="-120"/>
              </a:rPr>
              <a:t>85 des 95 interventions sont individuellement rentables, mais les contraintes de personnel en excluent pres de la moitie.</a:t>
            </a:r>
            <a:endParaRPr lang="en-US" sz="1300" dirty="0"/>
          </a:p>
        </p:txBody>
      </p:sp>
      <p:sp>
        <p:nvSpPr>
          <p:cNvPr id="7" name="Shape 5"/>
          <p:cNvSpPr/>
          <p:nvPr/>
        </p:nvSpPr>
        <p:spPr>
          <a:xfrm>
            <a:off x="548640" y="3291840"/>
            <a:ext cx="11094415" cy="1417320"/>
          </a:xfrm>
          <a:prstGeom prst="roundRect">
            <a:avLst>
              <a:gd name="adj" fmla="val 3871"/>
            </a:avLst>
          </a:prstGeom>
          <a:solidFill>
            <a:srgbClr val="1A1A7A"/>
          </a:solidFill>
          <a:ln/>
        </p:spPr>
      </p:sp>
      <p:sp>
        <p:nvSpPr>
          <p:cNvPr id="8" name="Text 6"/>
          <p:cNvSpPr/>
          <p:nvPr/>
        </p:nvSpPr>
        <p:spPr>
          <a:xfrm>
            <a:off x="822960" y="3429000"/>
            <a:ext cx="10545775" cy="411480"/>
          </a:xfrm>
          <a:prstGeom prst="rect">
            <a:avLst/>
          </a:prstGeom>
          <a:noFill/>
          <a:ln/>
        </p:spPr>
        <p:txBody>
          <a:bodyPr wrap="square" rtlCol="0" anchor="ctr"/>
          <a:lstStyle/>
          <a:p>
            <a:pPr algn="l" indent="0" marL="0">
              <a:buNone/>
            </a:pPr>
            <a:r>
              <a:rPr lang="en-US" sz="1600" b="1" dirty="0">
                <a:solidFill>
                  <a:srgbClr val="0099FF"/>
                </a:solidFill>
                <a:latin typeface="Arial" pitchFamily="34" charset="0"/>
                <a:ea typeface="Arial" pitchFamily="34" charset="-122"/>
                <a:cs typeface="Arial" pitchFamily="34" charset="-120"/>
              </a:rPr>
              <a:t>Le personnel, pas le budget, est le vrai goulot</a:t>
            </a:r>
            <a:endParaRPr lang="en-US" sz="1600" dirty="0"/>
          </a:p>
        </p:txBody>
      </p:sp>
      <p:sp>
        <p:nvSpPr>
          <p:cNvPr id="9" name="Text 7"/>
          <p:cNvSpPr/>
          <p:nvPr/>
        </p:nvSpPr>
        <p:spPr>
          <a:xfrm>
            <a:off x="822960" y="3840480"/>
            <a:ext cx="10545775" cy="777240"/>
          </a:xfrm>
          <a:prstGeom prst="rect">
            <a:avLst/>
          </a:prstGeom>
          <a:noFill/>
          <a:ln/>
        </p:spPr>
        <p:txBody>
          <a:bodyPr wrap="square" rtlCol="0" anchor="t"/>
          <a:lstStyle/>
          <a:p>
            <a:pPr algn="l" indent="0" marL="0">
              <a:buNone/>
            </a:pPr>
            <a:r>
              <a:rPr lang="en-US" sz="1300" dirty="0">
                <a:solidFill>
                  <a:srgbClr val="FFFFFF"/>
                </a:solidFill>
                <a:latin typeface="Arial" pitchFamily="34" charset="0"/>
                <a:ea typeface="Arial" pitchFamily="34" charset="-122"/>
                <a:cs typeface="Arial" pitchFamily="34" charset="-120"/>
              </a:rPr>
              <a:t>Le budget sature a 100% une fois les contraintes appliquees ; le personnel de sante mentale est le plus durement touche.</a:t>
            </a:r>
            <a:endParaRPr lang="en-US" sz="1300" dirty="0"/>
          </a:p>
        </p:txBody>
      </p:sp>
      <p:sp>
        <p:nvSpPr>
          <p:cNvPr id="10" name="Shape 8"/>
          <p:cNvSpPr/>
          <p:nvPr/>
        </p:nvSpPr>
        <p:spPr>
          <a:xfrm>
            <a:off x="548640" y="4892040"/>
            <a:ext cx="11094415" cy="1417320"/>
          </a:xfrm>
          <a:prstGeom prst="roundRect">
            <a:avLst>
              <a:gd name="adj" fmla="val 3871"/>
            </a:avLst>
          </a:prstGeom>
          <a:solidFill>
            <a:srgbClr val="1A1A7A"/>
          </a:solidFill>
          <a:ln/>
        </p:spPr>
      </p:sp>
      <p:sp>
        <p:nvSpPr>
          <p:cNvPr id="11" name="Text 9"/>
          <p:cNvSpPr/>
          <p:nvPr/>
        </p:nvSpPr>
        <p:spPr>
          <a:xfrm>
            <a:off x="822960" y="5029200"/>
            <a:ext cx="10545775" cy="411480"/>
          </a:xfrm>
          <a:prstGeom prst="rect">
            <a:avLst/>
          </a:prstGeom>
          <a:noFill/>
          <a:ln/>
        </p:spPr>
        <p:txBody>
          <a:bodyPr wrap="square" rtlCol="0" anchor="ctr"/>
          <a:lstStyle/>
          <a:p>
            <a:pPr algn="l" indent="0" marL="0">
              <a:buNone/>
            </a:pPr>
            <a:r>
              <a:rPr lang="en-US" sz="1600" b="1" dirty="0">
                <a:solidFill>
                  <a:srgbClr val="0099FF"/>
                </a:solidFill>
                <a:latin typeface="Arial" pitchFamily="34" charset="0"/>
                <a:ea typeface="Arial" pitchFamily="34" charset="-122"/>
                <a:cs typeface="Arial" pitchFamily="34" charset="-120"/>
              </a:rPr>
              <a:t>L'efficacite et l'equite ne pointent pas toujours dans le meme sens</a:t>
            </a:r>
            <a:endParaRPr lang="en-US" sz="1600" dirty="0"/>
          </a:p>
        </p:txBody>
      </p:sp>
      <p:sp>
        <p:nvSpPr>
          <p:cNvPr id="12" name="Text 10"/>
          <p:cNvSpPr/>
          <p:nvPr/>
        </p:nvSpPr>
        <p:spPr>
          <a:xfrm>
            <a:off x="822960" y="5440680"/>
            <a:ext cx="10545775" cy="777240"/>
          </a:xfrm>
          <a:prstGeom prst="rect">
            <a:avLst/>
          </a:prstGeom>
          <a:noFill/>
          <a:ln/>
        </p:spPr>
        <p:txBody>
          <a:bodyPr wrap="square" rtlCol="0" anchor="t"/>
          <a:lstStyle/>
          <a:p>
            <a:pPr algn="l" indent="0" marL="0">
              <a:buNone/>
            </a:pPr>
            <a:r>
              <a:rPr lang="en-US" sz="1300" dirty="0">
                <a:solidFill>
                  <a:srgbClr val="FFFFFF"/>
                </a:solidFill>
                <a:latin typeface="Arial" pitchFamily="34" charset="0"/>
                <a:ea typeface="Arial" pitchFamily="34" charset="-122"/>
                <a:cs typeface="Arial" pitchFamily="34" charset="-120"/>
              </a:rPr>
              <a:t>Le paquet creuse legerement les inegalites de richesse tout en reduisant l'ecart urbain/rural : un arbitrage a nommer explicitement.</a:t>
            </a:r>
            <a:endParaRPr lang="en-US" sz="1300" dirty="0"/>
          </a:p>
        </p:txBody>
      </p:sp>
      <p:sp>
        <p:nvSpPr>
          <p:cNvPr id="13" name="Text 11"/>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14" name="Text 12"/>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PROCHAINES ETAPES</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3000" b="1" dirty="0">
                <a:solidFill>
                  <a:srgbClr val="000066"/>
                </a:solidFill>
                <a:latin typeface="Arial" pitchFamily="34" charset="0"/>
                <a:ea typeface="Arial" pitchFamily="34" charset="-122"/>
                <a:cs typeface="Arial" pitchFamily="34" charset="-120"/>
              </a:rPr>
              <a:t>Ce que cette premiere iteration permet de faire maintenant</a:t>
            </a:r>
            <a:endParaRPr lang="en-US" sz="3000" dirty="0"/>
          </a:p>
        </p:txBody>
      </p:sp>
      <p:sp>
        <p:nvSpPr>
          <p:cNvPr id="4" name="Text 2"/>
          <p:cNvSpPr/>
          <p:nvPr/>
        </p:nvSpPr>
        <p:spPr>
          <a:xfrm>
            <a:off x="548640" y="1783080"/>
            <a:ext cx="10607040" cy="4297680"/>
          </a:xfrm>
          <a:prstGeom prst="rect">
            <a:avLst/>
          </a:prstGeom>
          <a:noFill/>
          <a:ln/>
        </p:spPr>
        <p:txBody>
          <a:bodyPr wrap="square" rtlCol="0" anchor="t"/>
          <a:lstStyle/>
          <a:p>
            <a:pPr algn="l" marL="228600" indent="-228600">
              <a:spcAft>
                <a:spcPts val="2000"/>
              </a:spcAft>
              <a:buSzPct val="100000"/>
              <a:buChar char="•"/>
            </a:pPr>
            <a:r>
              <a:rPr lang="en-US" sz="1600" dirty="0">
                <a:solidFill>
                  <a:srgbClr val="434143"/>
                </a:solidFill>
                <a:latin typeface="Arial" pitchFamily="34" charset="0"/>
                <a:ea typeface="Arial" pitchFamily="34" charset="-122"/>
                <a:cs typeface="Arial" pitchFamily="34" charset="-120"/>
              </a:rPr>
              <a:t>Affiner le cadrage avec des donnees Senegal-specifiques des qu'elles seront disponibles : microdonnees DHS Continue pour la ligne de base DCEA, budget consommables MSAS confirme, donnees RH nationales pour remplacer le jeu de reference actuel</a:t>
            </a:r>
            <a:endParaRPr lang="en-US" sz="1600" dirty="0"/>
          </a:p>
          <a:p>
            <a:pPr algn="l" marL="228600" indent="-228600">
              <a:spcAft>
                <a:spcPts val="2000"/>
              </a:spcAft>
              <a:buSzPct val="100000"/>
              <a:buChar char="•"/>
            </a:pPr>
            <a:r>
              <a:rPr lang="en-US" sz="1600" dirty="0">
                <a:solidFill>
                  <a:srgbClr val="434143"/>
                </a:solidFill>
                <a:latin typeface="Arial" pitchFamily="34" charset="0"/>
                <a:ea typeface="Arial" pitchFamily="34" charset="-122"/>
                <a:cs typeface="Arial" pitchFamily="34" charset="-120"/>
              </a:rPr>
              <a:t>Tester d'autres scenarios de decision en quelques minutes : un CET revise, un budget different, une autre hypothese de transfert de taches - le pipeline est concu pour recalculer l'ensemble automatiquement</a:t>
            </a:r>
            <a:endParaRPr lang="en-US" sz="1600" dirty="0"/>
          </a:p>
          <a:p>
            <a:pPr algn="l" marL="228600" indent="-228600">
              <a:spcAft>
                <a:spcPts val="2000"/>
              </a:spcAft>
              <a:buSzPct val="100000"/>
              <a:buChar char="•"/>
            </a:pPr>
            <a:r>
              <a:rPr lang="en-US" sz="1600" dirty="0">
                <a:solidFill>
                  <a:srgbClr val="434143"/>
                </a:solidFill>
                <a:latin typeface="Arial" pitchFamily="34" charset="0"/>
                <a:ea typeface="Arial" pitchFamily="34" charset="-122"/>
                <a:cs typeface="Arial" pitchFamily="34" charset="-120"/>
              </a:rPr>
              <a:t>Ouvrir la discussion sur l'arbitrage equite-efficacite avec le groupe de travail technique, en s'appuyant sur des chiffres explicites plutot que des choix implicites</a:t>
            </a:r>
            <a:endParaRPr lang="en-US" sz="1600" dirty="0"/>
          </a:p>
        </p:txBody>
      </p:sp>
      <p:sp>
        <p:nvSpPr>
          <p:cNvPr id="5" name="Text 3"/>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6" name="Text 4"/>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66"/>
        </a:solidFill>
      </p:bgPr>
    </p:bg>
    <p:spTree>
      <p:nvGrpSpPr>
        <p:cNvPr id="1" name=""/>
        <p:cNvGrpSpPr/>
        <p:nvPr/>
      </p:nvGrpSpPr>
      <p:grpSpPr>
        <a:xfrm>
          <a:off x="0" y="0"/>
          <a:ext cx="0" cy="0"/>
          <a:chOff x="0" y="0"/>
          <a:chExt cx="0" cy="0"/>
        </a:xfrm>
      </p:grpSpPr>
      <p:sp>
        <p:nvSpPr>
          <p:cNvPr id="2" name="Text 0"/>
          <p:cNvSpPr/>
          <p:nvPr/>
        </p:nvSpPr>
        <p:spPr>
          <a:xfrm>
            <a:off x="548640" y="2468880"/>
            <a:ext cx="11094415" cy="1097280"/>
          </a:xfrm>
          <a:prstGeom prst="rect">
            <a:avLst/>
          </a:prstGeom>
          <a:noFill/>
          <a:ln/>
        </p:spPr>
        <p:txBody>
          <a:bodyPr wrap="square" rtlCol="0" anchor="ctr"/>
          <a:lstStyle/>
          <a:p>
            <a:pPr algn="l" indent="0" marL="0">
              <a:buNone/>
            </a:pPr>
            <a:r>
              <a:rPr lang="en-US" sz="4400" b="1" dirty="0">
                <a:solidFill>
                  <a:srgbClr val="FFFFFF"/>
                </a:solidFill>
                <a:latin typeface="Arial" pitchFamily="34" charset="0"/>
                <a:ea typeface="Arial" pitchFamily="34" charset="-122"/>
                <a:cs typeface="Arial" pitchFamily="34" charset="-120"/>
              </a:rPr>
              <a:t>Merci</a:t>
            </a:r>
            <a:endParaRPr lang="en-US" sz="4400" dirty="0"/>
          </a:p>
        </p:txBody>
      </p:sp>
      <p:sp>
        <p:nvSpPr>
          <p:cNvPr id="3" name="Text 1"/>
          <p:cNvSpPr/>
          <p:nvPr/>
        </p:nvSpPr>
        <p:spPr>
          <a:xfrm>
            <a:off x="548640" y="3520440"/>
            <a:ext cx="11094415" cy="640080"/>
          </a:xfrm>
          <a:prstGeom prst="rect">
            <a:avLst/>
          </a:prstGeom>
          <a:noFill/>
          <a:ln/>
        </p:spPr>
        <p:txBody>
          <a:bodyPr wrap="square" rtlCol="0" anchor="ctr"/>
          <a:lstStyle/>
          <a:p>
            <a:pPr algn="l" indent="0" marL="0">
              <a:buNone/>
            </a:pPr>
            <a:r>
              <a:rPr lang="en-US" sz="2000" dirty="0">
                <a:solidFill>
                  <a:srgbClr val="0099FF"/>
                </a:solidFill>
                <a:latin typeface="Arial" pitchFamily="34" charset="0"/>
                <a:ea typeface="Arial" pitchFamily="34" charset="-122"/>
                <a:cs typeface="Arial" pitchFamily="34" charset="-120"/>
              </a:rPr>
              <a:t>Questions et discussion</a:t>
            </a:r>
            <a:endParaRPr lang="en-US" sz="2000" dirty="0"/>
          </a:p>
        </p:txBody>
      </p:sp>
      <p:sp>
        <p:nvSpPr>
          <p:cNvPr id="4" name="Text 2"/>
          <p:cNvSpPr/>
          <p:nvPr/>
        </p:nvSpPr>
        <p:spPr>
          <a:xfrm>
            <a:off x="548640" y="5852160"/>
            <a:ext cx="7315200" cy="365760"/>
          </a:xfrm>
          <a:prstGeom prst="rect">
            <a:avLst/>
          </a:prstGeom>
          <a:noFill/>
          <a:ln/>
        </p:spPr>
        <p:txBody>
          <a:bodyPr wrap="square" rtlCol="0" anchor="ctr"/>
          <a:lstStyle/>
          <a:p>
            <a:pPr algn="l" indent="0" marL="0">
              <a:buNone/>
            </a:pPr>
            <a:r>
              <a:rPr lang="en-US" sz="1300" dirty="0">
                <a:solidFill>
                  <a:srgbClr val="CCC6E0"/>
                </a:solidFill>
                <a:latin typeface="Arial" pitchFamily="34" charset="0"/>
                <a:ea typeface="Arial" pitchFamily="34" charset="-122"/>
                <a:cs typeface="Arial" pitchFamily="34" charset="-120"/>
              </a:rPr>
              <a:t>EasyHealth WP3  |  LISER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LISER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Defining the Health Benefits Package in Senegal</dc:title>
  <dc:subject>PptxGenJS Presentation</dc:subject>
  <dc:creator>LISER</dc:creator>
  <cp:lastModifiedBy>LISER</cp:lastModifiedBy>
  <cp:revision>1</cp:revision>
  <dcterms:created xsi:type="dcterms:W3CDTF">2026-09-09T18:06:01Z</dcterms:created>
  <dcterms:modified xsi:type="dcterms:W3CDTF">2026-09-09T18:06:01Z</dcterms:modified>
</cp:coreProperties>
</file>