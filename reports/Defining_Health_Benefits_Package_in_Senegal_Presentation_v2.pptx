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Thank you all for being here. Today I'll present the first dry run of the priority-setting method for Senegal's health benefits package: the standard cost-effectiveness logic, constrained optimization, and the distributional analysis (DCEA). The goal today is to walk through the mechanics of the method, share the first results, and open the discussion on next steps to sharpen these results with finer Senegal-specific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follow exactly the structure of the written note sent to Marc and Michel: first the disease burden and how it maps onto available interventions, then the standard cost-effectiveness logic, then constrained optimization, then the equity dimension through DCEA. At the end I'll propose concrete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Senegal needs to define its essential health benefits package under real resource constraints. The question is not what we would like to do, but what can actually be done, and in what order, starting from 389 candidate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Senegal's disease burden, from the GBD hierarchy, totals 6.8 million DALYs. Communicable, maternal, neonatal and nutritional causes and non-communicable diseases are almost evenly split, at 46% and 44%, with injuries making up the rest. The top 20 causes alone already account for 63% of the entire burden. Neonatal disorders dominate at 16%, nearly as much as all top-ranked NCDs combined, which puts reproductive, maternal, newborn and child health squarely at the top of the priority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ranking interventions, we first check what the OneHealth Tool inventory actually addresses. Of 389 interventions, 382 are matched to a primary GBD cause, covering 60 of 176 distinct causes recognised by GBD. Coverage is deliberately concentrated where the burden is highest: 70% of the top-20 DALY causes have a matched intervention, against only 29.5% for the remaining, lower-burden causes. But six top-20 causes, together 13.1% of the total burden, still have no matched intervention: congenital birth defects, road injuries, cirrhosis, meningitis, drowning, and hemoglobinopathies. That gap is worth flagging on its own, independently of anything cost-effectiveness can tell us. From here, the next steps narrow this list further to build the ranked league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steps build on each other: the league table answers 'is it worth it', optimization answers 'can we actually deliver it with the resources available', and DCEA answers 'who really benefits'. Each step builds directly on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point: 389 interventions. Four sequential filters narrow that down to 95: linked to one of the 20 leading GBD causes (141 remain), unit cost available (still 141), effect measured in DALYs averted per patient (97 remain), and case-volume data available (95 in the end). At a cost-effectiveness threshold of 485 dollars per DALY averted, 85 of these 95 interventions are individually cost-effective.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Interventions aren't ranked only by their cost-effectiveness ratio, but by net health benefit: DALYs averted minus the cost converted into DALY-equivalent terms via the threshold. That ranks interventions by their actual contribution to population health, not just their unit rentability. The blue curve is the set retained under the 485-dollar threshold; red is what exceeds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individually cost-effective does not guarantee an intervention can be both financed AND staffed alongside every other one. Constrained optimization solves this jointly: it chooses each intervention's coverage level to maximize total net benefit, subject to a budget constraint and a workforce-time constraint by cadre. It's a direct decision tool: if the budget or staffing changes, we can immediately recompute which package becomes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telling figure in this section. On the left, what it would take to treat every cost-effective case with no limit at all: over 600% of current capacity for mental-health staff, over 500% of the consumables budget. On the right, once constraints are actually applied, the budget is the first to saturate at 100%, while general medical staff retain slack. Mental health, on the other hand, is almost entirely excluded from the resulting package, not because it isn't worthwhile, but because it is too staff-intensive relative to the alternatives competing for the same scarce workforce.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scenarios tested. With no resource constraint at all, 77 interventions clear the cost-effectiveness threshold. Adding the consumables budget already drops that slightly to 75, but total DALYs barely move: the budget only excludes marginal interventions. The real shock comes from workforce constraints: the base scenario retains only 46 of 68 interventions tested. Allowing task-shifting to nurses, which relieves the pharmaceutical bottleneck, brings that back up to 56, at the cost of higher doctor and nurse workload. That's an explicit trade-off that needs a policy-level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DCEA asks a different question from the standard league table: not 'how much more health', but 'who benefits'. We split each intervention's benefit by who actually uses it, by wealth quintile and by residence, then summarize each group's health with an Atkinson index, which penalizes gaps. The epsilon parameter sets that penalty: the higher it is, the more weight is given to the worst-off group. We tested it at 2, 10 and 25 to check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equity plane by wealth quintile. Malaria treatment for children under 5 completely dominates the chart: 74% of total net benefit, and 89% of the package's impact on wealth-quintile inequality. This isn't an error: with roughly 4 malaria episodes per child per year across 2.5 million children, the case volume is genuinely enormous. But it also means the whole package's equity profile depends almost entirely on a single intervention. On the urban/rural dimension, though, the package actually narrows inequality rather than widening it, a different signal worth highlighting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from this first iteration. One: being cost-effective is not enough, workforce constraints exclude nearly half of the individually cost-effective interventions. Two: it is workforce, not budget, that is the real bottleneck once constraints are actually applied. Three: efficiency and equity don't always point the same way, which calls for an explicit policy trade-off rather than an implicit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iteration is not an end point, it's an already-operational working tool. Three concrete next steps: first, progressively replace the provisional parameters (budget, workforce data, DCEA parameters) with confirmed Senegal data as it becomes available - the pipeline is built so that takes minutes of recomputation, not a fresh build from scratch. Second, test other policy scenarios (a revised CET, a different budget) just as quickly. Third, use these results to feed an explicit discussion on the equity-efficiency trade-off with the technical working group. I remain available, of course, to keep developing this tool as new data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any questions, especially on the methodological choices and the provisional assumptions. And again, I remain fully available to keep developing this work as more data and discussions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66"/>
        </a:solidFill>
      </p:bgPr>
    </p:bg>
    <p:spTree>
      <p:nvGrpSpPr>
        <p:cNvPr id="1" name=""/>
        <p:cNvGrpSpPr/>
        <p:nvPr/>
      </p:nvGrpSpPr>
      <p:grpSpPr>
        <a:xfrm>
          <a:off x="0" y="0"/>
          <a:ext cx="0" cy="0"/>
          <a:chOff x="0" y="0"/>
          <a:chExt cx="0" cy="0"/>
        </a:xfrm>
      </p:grpSpPr>
      <p:sp>
        <p:nvSpPr>
          <p:cNvPr id="2" name="Text 0"/>
          <p:cNvSpPr/>
          <p:nvPr/>
        </p:nvSpPr>
        <p:spPr>
          <a:xfrm>
            <a:off x="548640" y="2331720"/>
            <a:ext cx="11094415" cy="137160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Defining Senegal's Health Benefits Package</a:t>
            </a:r>
            <a:endParaRPr lang="en-US" sz="3800" dirty="0"/>
          </a:p>
        </p:txBody>
      </p:sp>
      <p:sp>
        <p:nvSpPr>
          <p:cNvPr id="3" name="Text 1"/>
          <p:cNvSpPr/>
          <p:nvPr/>
        </p:nvSpPr>
        <p:spPr>
          <a:xfrm>
            <a:off x="548640" y="3611880"/>
            <a:ext cx="11094415" cy="822960"/>
          </a:xfrm>
          <a:prstGeom prst="rect">
            <a:avLst/>
          </a:prstGeom>
          <a:noFill/>
          <a:ln/>
        </p:spPr>
        <p:txBody>
          <a:bodyPr wrap="square" rtlCol="0" anchor="ctr"/>
          <a:lstStyle/>
          <a:p>
            <a:pPr algn="l" indent="0" marL="0">
              <a:buNone/>
            </a:pPr>
            <a:r>
              <a:rPr lang="en-US" sz="1800" dirty="0">
                <a:solidFill>
                  <a:srgbClr val="0099FF"/>
                </a:solidFill>
                <a:latin typeface="Arial" pitchFamily="34" charset="0"/>
                <a:ea typeface="Arial" pitchFamily="34" charset="-122"/>
                <a:cs typeface="Arial" pitchFamily="34" charset="-120"/>
              </a:rPr>
              <a:t>Cost-effectiveness ranking, constrained optimization, and distributional analysis - a first dry run</a:t>
            </a:r>
            <a:endParaRPr lang="en-US" sz="1800" dirty="0"/>
          </a:p>
        </p:txBody>
      </p:sp>
      <p:sp>
        <p:nvSpPr>
          <p:cNvPr id="4" name="Text 2"/>
          <p:cNvSpPr/>
          <p:nvPr/>
        </p:nvSpPr>
        <p:spPr>
          <a:xfrm>
            <a:off x="548640" y="5852160"/>
            <a:ext cx="7315200" cy="365760"/>
          </a:xfrm>
          <a:prstGeom prst="rect">
            <a:avLst/>
          </a:prstGeom>
          <a:noFill/>
          <a:ln/>
        </p:spPr>
        <p:txBody>
          <a:bodyPr wrap="square" rtlCol="0" anchor="ctr"/>
          <a:lstStyle/>
          <a:p>
            <a:pPr algn="l" indent="0" marL="0">
              <a:buNone/>
            </a:pPr>
            <a:r>
              <a:rPr lang="en-US" sz="1300" dirty="0">
                <a:solidFill>
                  <a:srgbClr val="CCC6E0"/>
                </a:solidFill>
                <a:latin typeface="Arial" pitchFamily="34" charset="0"/>
                <a:ea typeface="Arial" pitchFamily="34" charset="-122"/>
                <a:cs typeface="Arial" pitchFamily="34" charset="-120"/>
              </a:rPr>
              <a:t>EasyHealth WP3  |  LISER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AGENDA</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One priority-setting question, three linked methods</a:t>
            </a:r>
            <a:endParaRPr lang="en-US" sz="2800" dirty="0"/>
          </a:p>
        </p:txBody>
      </p:sp>
      <p:sp>
        <p:nvSpPr>
          <p:cNvPr id="4" name="Shape 2"/>
          <p:cNvSpPr/>
          <p:nvPr/>
        </p:nvSpPr>
        <p:spPr>
          <a:xfrm>
            <a:off x="548640" y="1600200"/>
            <a:ext cx="457200" cy="457200"/>
          </a:xfrm>
          <a:prstGeom prst="ellipse">
            <a:avLst/>
          </a:prstGeom>
          <a:solidFill>
            <a:srgbClr val="000066"/>
          </a:solidFill>
          <a:ln w="12700">
            <a:solidFill>
              <a:srgbClr val="000066"/>
            </a:solidFill>
            <a:prstDash val="solid"/>
          </a:ln>
        </p:spPr>
      </p:sp>
      <p:sp>
        <p:nvSpPr>
          <p:cNvPr id="5" name="Text 3"/>
          <p:cNvSpPr/>
          <p:nvPr/>
        </p:nvSpPr>
        <p:spPr>
          <a:xfrm>
            <a:off x="548640" y="16002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261872" y="1554480"/>
            <a:ext cx="4846320" cy="411480"/>
          </a:xfrm>
          <a:prstGeom prst="rect">
            <a:avLst/>
          </a:prstGeom>
          <a:noFill/>
          <a:ln/>
        </p:spPr>
        <p:txBody>
          <a:bodyPr wrap="square" rtlCol="0" anchor="ctr"/>
          <a:lstStyle/>
          <a:p>
            <a:pPr algn="l" indent="0" marL="0">
              <a:buNone/>
            </a:pPr>
            <a:r>
              <a:rPr lang="en-US" sz="1700" b="1" dirty="0">
                <a:solidFill>
                  <a:srgbClr val="000066"/>
                </a:solidFill>
                <a:latin typeface="Arial" pitchFamily="34" charset="0"/>
                <a:ea typeface="Arial" pitchFamily="34" charset="-122"/>
                <a:cs typeface="Arial" pitchFamily="34" charset="-120"/>
              </a:rPr>
              <a:t>Disease burden &amp; interventions</a:t>
            </a:r>
            <a:endParaRPr lang="en-US" sz="1700" dirty="0"/>
          </a:p>
        </p:txBody>
      </p:sp>
      <p:sp>
        <p:nvSpPr>
          <p:cNvPr id="7" name="Text 5"/>
          <p:cNvSpPr/>
          <p:nvPr/>
        </p:nvSpPr>
        <p:spPr>
          <a:xfrm>
            <a:off x="1261872" y="1965960"/>
            <a:ext cx="9692640" cy="502920"/>
          </a:xfrm>
          <a:prstGeom prst="rect">
            <a:avLst/>
          </a:prstGeom>
          <a:noFill/>
          <a:ln/>
        </p:spPr>
        <p:txBody>
          <a:bodyPr wrap="square" rtlCol="0" anchor="t"/>
          <a:lstStyle/>
          <a:p>
            <a:pPr algn="l" indent="0" marL="0">
              <a:buNone/>
            </a:pPr>
            <a:r>
              <a:rPr lang="en-US" sz="1250" dirty="0">
                <a:solidFill>
                  <a:srgbClr val="434143"/>
                </a:solidFill>
                <a:latin typeface="Arial" pitchFamily="34" charset="0"/>
                <a:ea typeface="Arial" pitchFamily="34" charset="-122"/>
                <a:cs typeface="Arial" pitchFamily="34" charset="-120"/>
              </a:rPr>
              <a:t>What does Senegal's disease burden look like, and what can address it?</a:t>
            </a:r>
            <a:endParaRPr lang="en-US" sz="1250" dirty="0"/>
          </a:p>
        </p:txBody>
      </p:sp>
      <p:sp>
        <p:nvSpPr>
          <p:cNvPr id="8" name="Shape 6"/>
          <p:cNvSpPr/>
          <p:nvPr/>
        </p:nvSpPr>
        <p:spPr>
          <a:xfrm>
            <a:off x="548640" y="2770632"/>
            <a:ext cx="457200" cy="457200"/>
          </a:xfrm>
          <a:prstGeom prst="ellipse">
            <a:avLst/>
          </a:prstGeom>
          <a:solidFill>
            <a:srgbClr val="000066"/>
          </a:solidFill>
          <a:ln w="12700">
            <a:solidFill>
              <a:srgbClr val="000066"/>
            </a:solidFill>
            <a:prstDash val="solid"/>
          </a:ln>
        </p:spPr>
      </p:sp>
      <p:sp>
        <p:nvSpPr>
          <p:cNvPr id="9" name="Text 7"/>
          <p:cNvSpPr/>
          <p:nvPr/>
        </p:nvSpPr>
        <p:spPr>
          <a:xfrm>
            <a:off x="548640" y="2770632"/>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261872" y="2724912"/>
            <a:ext cx="4846320" cy="411480"/>
          </a:xfrm>
          <a:prstGeom prst="rect">
            <a:avLst/>
          </a:prstGeom>
          <a:noFill/>
          <a:ln/>
        </p:spPr>
        <p:txBody>
          <a:bodyPr wrap="square" rtlCol="0" anchor="ctr"/>
          <a:lstStyle/>
          <a:p>
            <a:pPr algn="l" indent="0" marL="0">
              <a:buNone/>
            </a:pPr>
            <a:r>
              <a:rPr lang="en-US" sz="1700" b="1" dirty="0">
                <a:solidFill>
                  <a:srgbClr val="000066"/>
                </a:solidFill>
                <a:latin typeface="Arial" pitchFamily="34" charset="0"/>
                <a:ea typeface="Arial" pitchFamily="34" charset="-122"/>
                <a:cs typeface="Arial" pitchFamily="34" charset="-120"/>
              </a:rPr>
              <a:t>Cost-effectiveness (CEA)</a:t>
            </a:r>
            <a:endParaRPr lang="en-US" sz="1700" dirty="0"/>
          </a:p>
        </p:txBody>
      </p:sp>
      <p:sp>
        <p:nvSpPr>
          <p:cNvPr id="11" name="Text 9"/>
          <p:cNvSpPr/>
          <p:nvPr/>
        </p:nvSpPr>
        <p:spPr>
          <a:xfrm>
            <a:off x="1261872" y="3136392"/>
            <a:ext cx="9692640" cy="502920"/>
          </a:xfrm>
          <a:prstGeom prst="rect">
            <a:avLst/>
          </a:prstGeom>
          <a:noFill/>
          <a:ln/>
        </p:spPr>
        <p:txBody>
          <a:bodyPr wrap="square" rtlCol="0" anchor="t"/>
          <a:lstStyle/>
          <a:p>
            <a:pPr algn="l" indent="0" marL="0">
              <a:buNone/>
            </a:pPr>
            <a:r>
              <a:rPr lang="en-US" sz="1250" dirty="0">
                <a:solidFill>
                  <a:srgbClr val="434143"/>
                </a:solidFill>
                <a:latin typeface="Arial" pitchFamily="34" charset="0"/>
                <a:ea typeface="Arial" pitchFamily="34" charset="-122"/>
                <a:cs typeface="Arial" pitchFamily="34" charset="-120"/>
              </a:rPr>
              <a:t>Which interventions deliver the most health per dollar spent?</a:t>
            </a:r>
            <a:endParaRPr lang="en-US" sz="1250" dirty="0"/>
          </a:p>
        </p:txBody>
      </p:sp>
      <p:sp>
        <p:nvSpPr>
          <p:cNvPr id="12" name="Shape 10"/>
          <p:cNvSpPr/>
          <p:nvPr/>
        </p:nvSpPr>
        <p:spPr>
          <a:xfrm>
            <a:off x="548640" y="3941064"/>
            <a:ext cx="457200" cy="457200"/>
          </a:xfrm>
          <a:prstGeom prst="ellipse">
            <a:avLst/>
          </a:prstGeom>
          <a:solidFill>
            <a:srgbClr val="000066"/>
          </a:solidFill>
          <a:ln w="12700">
            <a:solidFill>
              <a:srgbClr val="000066"/>
            </a:solidFill>
            <a:prstDash val="solid"/>
          </a:ln>
        </p:spPr>
      </p:sp>
      <p:sp>
        <p:nvSpPr>
          <p:cNvPr id="13" name="Text 11"/>
          <p:cNvSpPr/>
          <p:nvPr/>
        </p:nvSpPr>
        <p:spPr>
          <a:xfrm>
            <a:off x="548640" y="3941064"/>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261872" y="3895344"/>
            <a:ext cx="4846320" cy="411480"/>
          </a:xfrm>
          <a:prstGeom prst="rect">
            <a:avLst/>
          </a:prstGeom>
          <a:noFill/>
          <a:ln/>
        </p:spPr>
        <p:txBody>
          <a:bodyPr wrap="square" rtlCol="0" anchor="ctr"/>
          <a:lstStyle/>
          <a:p>
            <a:pPr algn="l" indent="0" marL="0">
              <a:buNone/>
            </a:pPr>
            <a:r>
              <a:rPr lang="en-US" sz="1700" b="1" dirty="0">
                <a:solidFill>
                  <a:srgbClr val="000066"/>
                </a:solidFill>
                <a:latin typeface="Arial" pitchFamily="34" charset="0"/>
                <a:ea typeface="Arial" pitchFamily="34" charset="-122"/>
                <a:cs typeface="Arial" pitchFamily="34" charset="-120"/>
              </a:rPr>
              <a:t>Constrained optimization</a:t>
            </a:r>
            <a:endParaRPr lang="en-US" sz="1700" dirty="0"/>
          </a:p>
        </p:txBody>
      </p:sp>
      <p:sp>
        <p:nvSpPr>
          <p:cNvPr id="15" name="Text 13"/>
          <p:cNvSpPr/>
          <p:nvPr/>
        </p:nvSpPr>
        <p:spPr>
          <a:xfrm>
            <a:off x="1261872" y="4306824"/>
            <a:ext cx="9692640" cy="502920"/>
          </a:xfrm>
          <a:prstGeom prst="rect">
            <a:avLst/>
          </a:prstGeom>
          <a:noFill/>
          <a:ln/>
        </p:spPr>
        <p:txBody>
          <a:bodyPr wrap="square" rtlCol="0" anchor="t"/>
          <a:lstStyle/>
          <a:p>
            <a:pPr algn="l" indent="0" marL="0">
              <a:buNone/>
            </a:pPr>
            <a:r>
              <a:rPr lang="en-US" sz="1250" dirty="0">
                <a:solidFill>
                  <a:srgbClr val="434143"/>
                </a:solidFill>
                <a:latin typeface="Arial" pitchFamily="34" charset="0"/>
                <a:ea typeface="Arial" pitchFamily="34" charset="-122"/>
                <a:cs typeface="Arial" pitchFamily="34" charset="-120"/>
              </a:rPr>
              <a:t>What can actually be delivered with limited budget and staff?</a:t>
            </a:r>
            <a:endParaRPr lang="en-US" sz="1250" dirty="0"/>
          </a:p>
        </p:txBody>
      </p:sp>
      <p:sp>
        <p:nvSpPr>
          <p:cNvPr id="16" name="Shape 14"/>
          <p:cNvSpPr/>
          <p:nvPr/>
        </p:nvSpPr>
        <p:spPr>
          <a:xfrm>
            <a:off x="548640" y="5111496"/>
            <a:ext cx="457200" cy="457200"/>
          </a:xfrm>
          <a:prstGeom prst="ellipse">
            <a:avLst/>
          </a:prstGeom>
          <a:solidFill>
            <a:srgbClr val="000066"/>
          </a:solidFill>
          <a:ln w="12700">
            <a:solidFill>
              <a:srgbClr val="000066"/>
            </a:solidFill>
            <a:prstDash val="solid"/>
          </a:ln>
        </p:spPr>
      </p:sp>
      <p:sp>
        <p:nvSpPr>
          <p:cNvPr id="17" name="Text 15"/>
          <p:cNvSpPr/>
          <p:nvPr/>
        </p:nvSpPr>
        <p:spPr>
          <a:xfrm>
            <a:off x="548640" y="5111496"/>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261872" y="5065776"/>
            <a:ext cx="4846320" cy="411480"/>
          </a:xfrm>
          <a:prstGeom prst="rect">
            <a:avLst/>
          </a:prstGeom>
          <a:noFill/>
          <a:ln/>
        </p:spPr>
        <p:txBody>
          <a:bodyPr wrap="square" rtlCol="0" anchor="ctr"/>
          <a:lstStyle/>
          <a:p>
            <a:pPr algn="l" indent="0" marL="0">
              <a:buNone/>
            </a:pPr>
            <a:r>
              <a:rPr lang="en-US" sz="1700" b="1" dirty="0">
                <a:solidFill>
                  <a:srgbClr val="000066"/>
                </a:solidFill>
                <a:latin typeface="Arial" pitchFamily="34" charset="0"/>
                <a:ea typeface="Arial" pitchFamily="34" charset="-122"/>
                <a:cs typeface="Arial" pitchFamily="34" charset="-120"/>
              </a:rPr>
              <a:t>Distributional analysis (DCEA)</a:t>
            </a:r>
            <a:endParaRPr lang="en-US" sz="1700" dirty="0"/>
          </a:p>
        </p:txBody>
      </p:sp>
      <p:sp>
        <p:nvSpPr>
          <p:cNvPr id="19" name="Text 17"/>
          <p:cNvSpPr/>
          <p:nvPr/>
        </p:nvSpPr>
        <p:spPr>
          <a:xfrm>
            <a:off x="1261872" y="5477256"/>
            <a:ext cx="9692640" cy="502920"/>
          </a:xfrm>
          <a:prstGeom prst="rect">
            <a:avLst/>
          </a:prstGeom>
          <a:noFill/>
          <a:ln/>
        </p:spPr>
        <p:txBody>
          <a:bodyPr wrap="square" rtlCol="0" anchor="t"/>
          <a:lstStyle/>
          <a:p>
            <a:pPr algn="l" indent="0" marL="0">
              <a:buNone/>
            </a:pPr>
            <a:r>
              <a:rPr lang="en-US" sz="1250" dirty="0">
                <a:solidFill>
                  <a:srgbClr val="434143"/>
                </a:solidFill>
                <a:latin typeface="Arial" pitchFamily="34" charset="0"/>
                <a:ea typeface="Arial" pitchFamily="34" charset="-122"/>
                <a:cs typeface="Arial" pitchFamily="34" charset="-120"/>
              </a:rPr>
              <a:t>Who benefits from this package, and does it narrow inequality?</a:t>
            </a:r>
            <a:endParaRPr lang="en-US" sz="1250" dirty="0"/>
          </a:p>
        </p:txBody>
      </p:sp>
      <p:sp>
        <p:nvSpPr>
          <p:cNvPr id="20" name="Text 18"/>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21" name="Text 19"/>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CONTEXT</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A benefits package to define under real resource limits</a:t>
            </a:r>
            <a:endParaRPr lang="en-US" sz="2800" dirty="0"/>
          </a:p>
        </p:txBody>
      </p:sp>
      <p:sp>
        <p:nvSpPr>
          <p:cNvPr id="4" name="Text 2"/>
          <p:cNvSpPr/>
          <p:nvPr/>
        </p:nvSpPr>
        <p:spPr>
          <a:xfrm>
            <a:off x="548640" y="1737360"/>
            <a:ext cx="5760720" cy="3931920"/>
          </a:xfrm>
          <a:prstGeom prst="rect">
            <a:avLst/>
          </a:prstGeom>
          <a:noFill/>
          <a:ln/>
        </p:spPr>
        <p:txBody>
          <a:bodyPr wrap="square" rtlCol="0" anchor="t"/>
          <a:lstStyle/>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18.1 million people (2023), growing 2.9% a year</a:t>
            </a:r>
            <a:endParaRPr lang="en-US" sz="1600" dirty="0"/>
          </a:p>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389 candidate interventions listed in the OneHealth Tool</a:t>
            </a:r>
            <a:endParaRPr lang="en-US" sz="1600" dirty="0"/>
          </a:p>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A limited health budget and workforce: choices must be made</a:t>
            </a:r>
            <a:endParaRPr lang="en-US" sz="1600" dirty="0"/>
          </a:p>
          <a:p>
            <a:pPr algn="l" marL="228600" indent="-228600">
              <a:spcAft>
                <a:spcPts val="1600"/>
              </a:spcAft>
              <a:buSzPct val="100000"/>
              <a:buChar char="•"/>
            </a:pPr>
            <a:r>
              <a:rPr lang="en-US" sz="1600" dirty="0">
                <a:solidFill>
                  <a:srgbClr val="434143"/>
                </a:solidFill>
                <a:latin typeface="Arial" pitchFamily="34" charset="0"/>
                <a:ea typeface="Arial" pitchFamily="34" charset="-122"/>
                <a:cs typeface="Arial" pitchFamily="34" charset="-120"/>
              </a:rPr>
              <a:t>A systematic, transparent ranking method is needed</a:t>
            </a:r>
            <a:endParaRPr lang="en-US" sz="1600" dirty="0"/>
          </a:p>
        </p:txBody>
      </p:sp>
      <p:sp>
        <p:nvSpPr>
          <p:cNvPr id="5" name="Text 3"/>
          <p:cNvSpPr/>
          <p:nvPr/>
        </p:nvSpPr>
        <p:spPr>
          <a:xfrm>
            <a:off x="6675120" y="1737360"/>
            <a:ext cx="4937760" cy="1042416"/>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18.1M</a:t>
            </a:r>
            <a:endParaRPr lang="en-US" sz="3600" dirty="0"/>
          </a:p>
        </p:txBody>
      </p:sp>
      <p:sp>
        <p:nvSpPr>
          <p:cNvPr id="6" name="Text 4"/>
          <p:cNvSpPr/>
          <p:nvPr/>
        </p:nvSpPr>
        <p:spPr>
          <a:xfrm>
            <a:off x="6675120" y="2779776"/>
            <a:ext cx="4937760" cy="694944"/>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population, Senegal 2023</a:t>
            </a:r>
            <a:endParaRPr lang="en-US" sz="1100" dirty="0"/>
          </a:p>
        </p:txBody>
      </p:sp>
      <p:sp>
        <p:nvSpPr>
          <p:cNvPr id="7" name="Text 5"/>
          <p:cNvSpPr/>
          <p:nvPr/>
        </p:nvSpPr>
        <p:spPr>
          <a:xfrm>
            <a:off x="6675120" y="3657600"/>
            <a:ext cx="4937760" cy="1042416"/>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389</a:t>
            </a:r>
            <a:endParaRPr lang="en-US" sz="3600" dirty="0"/>
          </a:p>
        </p:txBody>
      </p:sp>
      <p:sp>
        <p:nvSpPr>
          <p:cNvPr id="8" name="Text 6"/>
          <p:cNvSpPr/>
          <p:nvPr/>
        </p:nvSpPr>
        <p:spPr>
          <a:xfrm>
            <a:off x="6675120" y="4700016"/>
            <a:ext cx="4937760" cy="694944"/>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candidate interventions (OneHealth Tool)</a:t>
            </a:r>
            <a:endParaRPr lang="en-US" sz="1100" dirty="0"/>
          </a:p>
        </p:txBody>
      </p:sp>
      <p:sp>
        <p:nvSpPr>
          <p:cNvPr id="9" name="Text 7"/>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0"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DISEASE BURDEN</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6.8 million DALYs, concentrated in four drivers</a:t>
            </a:r>
            <a:endParaRPr lang="en-US" sz="2800" dirty="0"/>
          </a:p>
        </p:txBody>
      </p:sp>
      <p:pic>
        <p:nvPicPr>
          <p:cNvPr id="4" name="Image 0" descr="/tmp/claude-0/-home-user-Tuto-test/c5af62e6-580a-50f7-99b9-aad76c71bea2/scratchpad/pptx/top20_causes_dalys.png">    </p:cNvPr>
          <p:cNvPicPr>
            <a:picLocks noChangeAspect="1"/>
          </p:cNvPicPr>
          <p:nvPr/>
        </p:nvPicPr>
        <p:blipFill>
          <a:blip r:embed="rId1"/>
          <a:stretch>
            <a:fillRect/>
          </a:stretch>
        </p:blipFill>
        <p:spPr>
          <a:xfrm>
            <a:off x="548640" y="1691640"/>
            <a:ext cx="5541264" cy="4617720"/>
          </a:xfrm>
          <a:prstGeom prst="rect">
            <a:avLst/>
          </a:prstGeom>
        </p:spPr>
      </p:pic>
      <p:sp>
        <p:nvSpPr>
          <p:cNvPr id="5" name="Text 2"/>
          <p:cNvSpPr/>
          <p:nvPr/>
        </p:nvSpPr>
        <p:spPr>
          <a:xfrm>
            <a:off x="6537960" y="1783080"/>
            <a:ext cx="5074920" cy="4754880"/>
          </a:xfrm>
          <a:prstGeom prst="rect">
            <a:avLst/>
          </a:prstGeom>
          <a:noFill/>
          <a:ln/>
        </p:spPr>
        <p:txBody>
          <a:bodyPr wrap="square" rtlCol="0" anchor="t"/>
          <a:lstStyle/>
          <a:p>
            <a:pPr algn="l" marL="228600" indent="-228600">
              <a:spcAft>
                <a:spcPts val="1600"/>
              </a:spcAft>
              <a:buSzPct val="100000"/>
              <a:buChar char="•"/>
            </a:pPr>
            <a:r>
              <a:rPr lang="en-US" sz="1450" dirty="0">
                <a:solidFill>
                  <a:srgbClr val="434143"/>
                </a:solidFill>
                <a:latin typeface="Arial" pitchFamily="34" charset="0"/>
                <a:ea typeface="Arial" pitchFamily="34" charset="-122"/>
                <a:cs typeface="Arial" pitchFamily="34" charset="-120"/>
              </a:rPr>
              <a:t>6.8M DALYs total (GBD 2023, Senegal)</a:t>
            </a:r>
            <a:endParaRPr lang="en-US" sz="1450" dirty="0"/>
          </a:p>
          <a:p>
            <a:pPr algn="l" marL="228600" indent="-228600">
              <a:spcAft>
                <a:spcPts val="1600"/>
              </a:spcAft>
              <a:buSzPct val="100000"/>
              <a:buChar char="•"/>
            </a:pPr>
            <a:r>
              <a:rPr lang="en-US" sz="1450" dirty="0">
                <a:solidFill>
                  <a:srgbClr val="434143"/>
                </a:solidFill>
                <a:latin typeface="Arial" pitchFamily="34" charset="0"/>
                <a:ea typeface="Arial" pitchFamily="34" charset="-122"/>
                <a:cs typeface="Arial" pitchFamily="34" charset="-120"/>
              </a:rPr>
              <a:t>46% CMNN, 44% NCDs, 10% injuries</a:t>
            </a:r>
            <a:endParaRPr lang="en-US" sz="1450" dirty="0"/>
          </a:p>
          <a:p>
            <a:pPr algn="l" marL="228600" indent="-228600">
              <a:spcAft>
                <a:spcPts val="1600"/>
              </a:spcAft>
              <a:buSzPct val="100000"/>
              <a:buChar char="•"/>
            </a:pPr>
            <a:r>
              <a:rPr lang="en-US" sz="1450" dirty="0">
                <a:solidFill>
                  <a:srgbClr val="434143"/>
                </a:solidFill>
                <a:latin typeface="Arial" pitchFamily="34" charset="0"/>
                <a:ea typeface="Arial" pitchFamily="34" charset="-122"/>
                <a:cs typeface="Arial" pitchFamily="34" charset="-120"/>
              </a:rPr>
              <a:t>Top 20 causes = 63% of all DALYs</a:t>
            </a:r>
            <a:endParaRPr lang="en-US" sz="1450" dirty="0"/>
          </a:p>
          <a:p>
            <a:pPr algn="l" marL="228600" indent="-228600">
              <a:spcAft>
                <a:spcPts val="1600"/>
              </a:spcAft>
              <a:buSzPct val="100000"/>
              <a:buChar char="•"/>
            </a:pPr>
            <a:r>
              <a:rPr lang="en-US" sz="1450" dirty="0">
                <a:solidFill>
                  <a:srgbClr val="434143"/>
                </a:solidFill>
                <a:latin typeface="Arial" pitchFamily="34" charset="0"/>
                <a:ea typeface="Arial" pitchFamily="34" charset="-122"/>
                <a:cs typeface="Arial" pitchFamily="34" charset="-120"/>
              </a:rPr>
              <a:t>Neonatal disorders alone: 16% - the single largest driver</a:t>
            </a:r>
            <a:endParaRPr lang="en-US" sz="1450" dirty="0"/>
          </a:p>
          <a:p>
            <a:pPr algn="l" marL="228600" indent="-228600">
              <a:spcAft>
                <a:spcPts val="1600"/>
              </a:spcAft>
              <a:buSzPct val="100000"/>
              <a:buChar char="•"/>
            </a:pPr>
            <a:r>
              <a:rPr lang="en-US" sz="1450" dirty="0">
                <a:solidFill>
                  <a:srgbClr val="434143"/>
                </a:solidFill>
                <a:latin typeface="Arial" pitchFamily="34" charset="0"/>
                <a:ea typeface="Arial" pitchFamily="34" charset="-122"/>
                <a:cs typeface="Arial" pitchFamily="34" charset="-120"/>
              </a:rPr>
              <a:t>NCDs: 18.4% of the top-20 burden (stroke, birth defects, anxiety/depression)</a:t>
            </a:r>
            <a:endParaRPr lang="en-US" sz="1450" dirty="0"/>
          </a:p>
        </p:txBody>
      </p:sp>
      <p:sp>
        <p:nvSpPr>
          <p:cNvPr id="6" name="Text 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DISEASE BURDEN MEETS INTERVENTIONS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What the intervention list actually covers</a:t>
            </a:r>
            <a:endParaRPr lang="en-US" sz="2800" dirty="0"/>
          </a:p>
        </p:txBody>
      </p:sp>
      <p:sp>
        <p:nvSpPr>
          <p:cNvPr id="4" name="Text 2"/>
          <p:cNvSpPr/>
          <p:nvPr/>
        </p:nvSpPr>
        <p:spPr>
          <a:xfrm>
            <a:off x="548640" y="1783080"/>
            <a:ext cx="10607040" cy="2103120"/>
          </a:xfrm>
          <a:prstGeom prst="rect">
            <a:avLst/>
          </a:prstGeom>
          <a:noFill/>
          <a:ln/>
        </p:spPr>
        <p:txBody>
          <a:bodyPr wrap="square" rtlCol="0" anchor="t"/>
          <a:lstStyle/>
          <a:p>
            <a:pPr algn="l" marL="228600" indent="-228600">
              <a:spcAft>
                <a:spcPts val="1400"/>
              </a:spcAft>
              <a:buSzPct val="100000"/>
              <a:buChar char="•"/>
            </a:pPr>
            <a:r>
              <a:rPr lang="en-US" sz="1600" dirty="0">
                <a:solidFill>
                  <a:srgbClr val="434143"/>
                </a:solidFill>
                <a:latin typeface="Arial" pitchFamily="34" charset="0"/>
                <a:ea typeface="Arial" pitchFamily="34" charset="-122"/>
                <a:cs typeface="Arial" pitchFamily="34" charset="-120"/>
              </a:rPr>
              <a:t>389 interventions in Senegal's OneHealth Tool inventory</a:t>
            </a:r>
            <a:endParaRPr lang="en-US" sz="1600" dirty="0"/>
          </a:p>
          <a:p>
            <a:pPr algn="l" marL="228600" indent="-228600">
              <a:spcAft>
                <a:spcPts val="1400"/>
              </a:spcAft>
              <a:buSzPct val="100000"/>
              <a:buChar char="•"/>
            </a:pPr>
            <a:r>
              <a:rPr lang="en-US" sz="1600" dirty="0">
                <a:solidFill>
                  <a:srgbClr val="434143"/>
                </a:solidFill>
                <a:latin typeface="Arial" pitchFamily="34" charset="0"/>
                <a:ea typeface="Arial" pitchFamily="34" charset="-122"/>
                <a:cs typeface="Arial" pitchFamily="34" charset="-120"/>
              </a:rPr>
              <a:t>382 (98%) matched to a primary GBD cause, covering 60 of 176 distinct causes</a:t>
            </a:r>
            <a:endParaRPr lang="en-US" sz="1600" dirty="0"/>
          </a:p>
          <a:p>
            <a:pPr algn="l" marL="228600" indent="-228600">
              <a:spcAft>
                <a:spcPts val="1400"/>
              </a:spcAft>
              <a:buSzPct val="100000"/>
              <a:buChar char="•"/>
            </a:pPr>
            <a:r>
              <a:rPr lang="en-US" sz="1600" dirty="0">
                <a:solidFill>
                  <a:srgbClr val="434143"/>
                </a:solidFill>
                <a:latin typeface="Arial" pitchFamily="34" charset="0"/>
                <a:ea typeface="Arial" pitchFamily="34" charset="-122"/>
                <a:cs typeface="Arial" pitchFamily="34" charset="-120"/>
              </a:rPr>
              <a:t>Tuberculosis, maternal disorders and HIV/AIDS alone account for 174 of these 382 matches</a:t>
            </a:r>
            <a:endParaRPr lang="en-US" sz="1600" dirty="0"/>
          </a:p>
        </p:txBody>
      </p:sp>
      <p:sp>
        <p:nvSpPr>
          <p:cNvPr id="5" name="Text 3"/>
          <p:cNvSpPr/>
          <p:nvPr/>
        </p:nvSpPr>
        <p:spPr>
          <a:xfrm>
            <a:off x="548640" y="3977640"/>
            <a:ext cx="3383280" cy="1014984"/>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70%</a:t>
            </a:r>
            <a:endParaRPr lang="en-US" sz="3600" dirty="0"/>
          </a:p>
        </p:txBody>
      </p:sp>
      <p:sp>
        <p:nvSpPr>
          <p:cNvPr id="6" name="Text 4"/>
          <p:cNvSpPr/>
          <p:nvPr/>
        </p:nvSpPr>
        <p:spPr>
          <a:xfrm>
            <a:off x="548640" y="4992624"/>
            <a:ext cx="3383280" cy="676656"/>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of the top-20 DALY causes have a matched intervention (14 of 20)</a:t>
            </a:r>
            <a:endParaRPr lang="en-US" sz="1100" dirty="0"/>
          </a:p>
        </p:txBody>
      </p:sp>
      <p:sp>
        <p:nvSpPr>
          <p:cNvPr id="7" name="Text 5"/>
          <p:cNvSpPr/>
          <p:nvPr/>
        </p:nvSpPr>
        <p:spPr>
          <a:xfrm>
            <a:off x="4343400" y="3977640"/>
            <a:ext cx="3383280" cy="1014984"/>
          </a:xfrm>
          <a:prstGeom prst="rect">
            <a:avLst/>
          </a:prstGeom>
          <a:noFill/>
          <a:ln/>
        </p:spPr>
        <p:txBody>
          <a:bodyPr wrap="square" rtlCol="0" anchor="b"/>
          <a:lstStyle/>
          <a:p>
            <a:pPr algn="ctr" indent="0" marL="0">
              <a:buNone/>
            </a:pPr>
            <a:r>
              <a:rPr lang="en-US" sz="3600" b="1" dirty="0">
                <a:solidFill>
                  <a:srgbClr val="006699"/>
                </a:solidFill>
                <a:latin typeface="Arial" pitchFamily="34" charset="0"/>
                <a:ea typeface="Arial" pitchFamily="34" charset="-122"/>
                <a:cs typeface="Arial" pitchFamily="34" charset="-120"/>
              </a:rPr>
              <a:t>29.5%</a:t>
            </a:r>
            <a:endParaRPr lang="en-US" sz="3600" dirty="0"/>
          </a:p>
        </p:txBody>
      </p:sp>
      <p:sp>
        <p:nvSpPr>
          <p:cNvPr id="8" name="Text 6"/>
          <p:cNvSpPr/>
          <p:nvPr/>
        </p:nvSpPr>
        <p:spPr>
          <a:xfrm>
            <a:off x="4343400" y="4992624"/>
            <a:ext cx="3383280" cy="676656"/>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match rate for the remaining, lower-burden causes (46 of 156)</a:t>
            </a:r>
            <a:endParaRPr lang="en-US" sz="1100" dirty="0"/>
          </a:p>
        </p:txBody>
      </p:sp>
      <p:sp>
        <p:nvSpPr>
          <p:cNvPr id="9" name="Text 7"/>
          <p:cNvSpPr/>
          <p:nvPr/>
        </p:nvSpPr>
        <p:spPr>
          <a:xfrm>
            <a:off x="8138160" y="3977640"/>
            <a:ext cx="3566160" cy="1014984"/>
          </a:xfrm>
          <a:prstGeom prst="rect">
            <a:avLst/>
          </a:prstGeom>
          <a:noFill/>
          <a:ln/>
        </p:spPr>
        <p:txBody>
          <a:bodyPr wrap="square" rtlCol="0" anchor="b"/>
          <a:lstStyle/>
          <a:p>
            <a:pPr algn="ctr" indent="0" marL="0">
              <a:buNone/>
            </a:pPr>
            <a:r>
              <a:rPr lang="en-US" sz="3600" b="1" dirty="0">
                <a:solidFill>
                  <a:srgbClr val="E30613"/>
                </a:solidFill>
                <a:latin typeface="Arial" pitchFamily="34" charset="0"/>
                <a:ea typeface="Arial" pitchFamily="34" charset="-122"/>
                <a:cs typeface="Arial" pitchFamily="34" charset="-120"/>
              </a:rPr>
              <a:t>13.1%</a:t>
            </a:r>
            <a:endParaRPr lang="en-US" sz="3600" dirty="0"/>
          </a:p>
        </p:txBody>
      </p:sp>
      <p:sp>
        <p:nvSpPr>
          <p:cNvPr id="10" name="Text 8"/>
          <p:cNvSpPr/>
          <p:nvPr/>
        </p:nvSpPr>
        <p:spPr>
          <a:xfrm>
            <a:off x="8138160" y="4992624"/>
            <a:ext cx="3566160" cy="676656"/>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of total DALYs still uncovered: 6 top-20 causes with no matched intervention</a:t>
            </a:r>
            <a:endParaRPr lang="en-US" sz="1100" dirty="0"/>
          </a:p>
        </p:txBody>
      </p:sp>
      <p:sp>
        <p:nvSpPr>
          <p:cNvPr id="11" name="Text 9"/>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2" name="Text 10"/>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METHOD</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The overall logic</a:t>
            </a:r>
            <a:endParaRPr lang="en-US" sz="2800" dirty="0"/>
          </a:p>
        </p:txBody>
      </p:sp>
      <p:sp>
        <p:nvSpPr>
          <p:cNvPr id="4" name="Shape 2"/>
          <p:cNvSpPr/>
          <p:nvPr/>
        </p:nvSpPr>
        <p:spPr>
          <a:xfrm>
            <a:off x="548640" y="1737360"/>
            <a:ext cx="3383280" cy="3566160"/>
          </a:xfrm>
          <a:prstGeom prst="roundRect">
            <a:avLst>
              <a:gd name="adj" fmla="val 2162"/>
            </a:avLst>
          </a:prstGeom>
          <a:solidFill>
            <a:srgbClr val="E4E2F0"/>
          </a:solidFill>
          <a:ln/>
        </p:spPr>
      </p:sp>
      <p:sp>
        <p:nvSpPr>
          <p:cNvPr id="5" name="Text 3"/>
          <p:cNvSpPr/>
          <p:nvPr/>
        </p:nvSpPr>
        <p:spPr>
          <a:xfrm>
            <a:off x="777240" y="1965960"/>
            <a:ext cx="2926080" cy="548640"/>
          </a:xfrm>
          <a:prstGeom prst="rect">
            <a:avLst/>
          </a:prstGeom>
          <a:noFill/>
          <a:ln/>
        </p:spPr>
        <p:txBody>
          <a:bodyPr wrap="square" rtlCol="0" anchor="ctr"/>
          <a:lstStyle/>
          <a:p>
            <a:pPr algn="l" indent="0" marL="0">
              <a:buNone/>
            </a:pPr>
            <a:r>
              <a:rPr lang="en-US" sz="1700" b="1" dirty="0">
                <a:solidFill>
                  <a:srgbClr val="000066"/>
                </a:solidFill>
                <a:latin typeface="Arial" pitchFamily="34" charset="0"/>
                <a:ea typeface="Arial" pitchFamily="34" charset="-122"/>
                <a:cs typeface="Arial" pitchFamily="34" charset="-120"/>
              </a:rPr>
              <a:t>1. League table</a:t>
            </a:r>
            <a:endParaRPr lang="en-US" sz="1700" dirty="0"/>
          </a:p>
        </p:txBody>
      </p:sp>
      <p:sp>
        <p:nvSpPr>
          <p:cNvPr id="6" name="Text 4"/>
          <p:cNvSpPr/>
          <p:nvPr/>
        </p:nvSpPr>
        <p:spPr>
          <a:xfrm>
            <a:off x="777240" y="2560320"/>
            <a:ext cx="2926080" cy="2560320"/>
          </a:xfrm>
          <a:prstGeom prst="rect">
            <a:avLst/>
          </a:prstGeom>
          <a:noFill/>
          <a:ln/>
        </p:spPr>
        <p:txBody>
          <a:bodyPr wrap="square" rtlCol="0" anchor="t"/>
          <a:lstStyle/>
          <a:p>
            <a:pPr algn="l" indent="0" marL="0">
              <a:buNone/>
            </a:pPr>
            <a:r>
              <a:rPr lang="en-US" sz="1350" dirty="0">
                <a:solidFill>
                  <a:srgbClr val="434143"/>
                </a:solidFill>
                <a:latin typeface="Arial" pitchFamily="34" charset="0"/>
                <a:ea typeface="Arial" pitchFamily="34" charset="-122"/>
                <a:cs typeface="Arial" pitchFamily="34" charset="-120"/>
              </a:rPr>
              <a:t>Rank interventions by cost-effectiveness ratio (ICER) against a reference threshold (CET)</a:t>
            </a:r>
            <a:endParaRPr lang="en-US" sz="1350" dirty="0"/>
          </a:p>
        </p:txBody>
      </p:sp>
      <p:sp>
        <p:nvSpPr>
          <p:cNvPr id="7" name="Shape 5"/>
          <p:cNvSpPr/>
          <p:nvPr/>
        </p:nvSpPr>
        <p:spPr>
          <a:xfrm>
            <a:off x="4251960" y="1737360"/>
            <a:ext cx="3383280" cy="3566160"/>
          </a:xfrm>
          <a:prstGeom prst="roundRect">
            <a:avLst>
              <a:gd name="adj" fmla="val 2162"/>
            </a:avLst>
          </a:prstGeom>
          <a:solidFill>
            <a:srgbClr val="E4E2F0"/>
          </a:solidFill>
          <a:ln/>
        </p:spPr>
      </p:sp>
      <p:sp>
        <p:nvSpPr>
          <p:cNvPr id="8" name="Text 6"/>
          <p:cNvSpPr/>
          <p:nvPr/>
        </p:nvSpPr>
        <p:spPr>
          <a:xfrm>
            <a:off x="4480560" y="1965960"/>
            <a:ext cx="2926080" cy="548640"/>
          </a:xfrm>
          <a:prstGeom prst="rect">
            <a:avLst/>
          </a:prstGeom>
          <a:noFill/>
          <a:ln/>
        </p:spPr>
        <p:txBody>
          <a:bodyPr wrap="square" rtlCol="0" anchor="ctr"/>
          <a:lstStyle/>
          <a:p>
            <a:pPr algn="l" indent="0" marL="0">
              <a:buNone/>
            </a:pPr>
            <a:r>
              <a:rPr lang="en-US" sz="1700" b="1" dirty="0">
                <a:solidFill>
                  <a:srgbClr val="006699"/>
                </a:solidFill>
                <a:latin typeface="Arial" pitchFamily="34" charset="0"/>
                <a:ea typeface="Arial" pitchFamily="34" charset="-122"/>
                <a:cs typeface="Arial" pitchFamily="34" charset="-120"/>
              </a:rPr>
              <a:t>2. Optimization</a:t>
            </a:r>
            <a:endParaRPr lang="en-US" sz="1700" dirty="0"/>
          </a:p>
        </p:txBody>
      </p:sp>
      <p:sp>
        <p:nvSpPr>
          <p:cNvPr id="9" name="Text 7"/>
          <p:cNvSpPr/>
          <p:nvPr/>
        </p:nvSpPr>
        <p:spPr>
          <a:xfrm>
            <a:off x="4480560" y="2560320"/>
            <a:ext cx="2926080" cy="2560320"/>
          </a:xfrm>
          <a:prstGeom prst="rect">
            <a:avLst/>
          </a:prstGeom>
          <a:noFill/>
          <a:ln/>
        </p:spPr>
        <p:txBody>
          <a:bodyPr wrap="square" rtlCol="0" anchor="t"/>
          <a:lstStyle/>
          <a:p>
            <a:pPr algn="l" indent="0" marL="0">
              <a:buNone/>
            </a:pPr>
            <a:r>
              <a:rPr lang="en-US" sz="1350" dirty="0">
                <a:solidFill>
                  <a:srgbClr val="434143"/>
                </a:solidFill>
                <a:latin typeface="Arial" pitchFamily="34" charset="0"/>
                <a:ea typeface="Arial" pitchFamily="34" charset="-122"/>
                <a:cs typeface="Arial" pitchFamily="34" charset="-120"/>
              </a:rPr>
              <a:t>Choose each intervention's coverage level under budget and workforce constraints</a:t>
            </a:r>
            <a:endParaRPr lang="en-US" sz="1350" dirty="0"/>
          </a:p>
        </p:txBody>
      </p:sp>
      <p:sp>
        <p:nvSpPr>
          <p:cNvPr id="10" name="Shape 8"/>
          <p:cNvSpPr/>
          <p:nvPr/>
        </p:nvSpPr>
        <p:spPr>
          <a:xfrm>
            <a:off x="7955280" y="1737360"/>
            <a:ext cx="3383280" cy="3566160"/>
          </a:xfrm>
          <a:prstGeom prst="roundRect">
            <a:avLst>
              <a:gd name="adj" fmla="val 2162"/>
            </a:avLst>
          </a:prstGeom>
          <a:solidFill>
            <a:srgbClr val="E4E2F0"/>
          </a:solidFill>
          <a:ln/>
        </p:spPr>
      </p:sp>
      <p:sp>
        <p:nvSpPr>
          <p:cNvPr id="11" name="Text 9"/>
          <p:cNvSpPr/>
          <p:nvPr/>
        </p:nvSpPr>
        <p:spPr>
          <a:xfrm>
            <a:off x="8183880" y="1965960"/>
            <a:ext cx="2926080" cy="548640"/>
          </a:xfrm>
          <a:prstGeom prst="rect">
            <a:avLst/>
          </a:prstGeom>
          <a:noFill/>
          <a:ln/>
        </p:spPr>
        <p:txBody>
          <a:bodyPr wrap="square" rtlCol="0" anchor="ctr"/>
          <a:lstStyle/>
          <a:p>
            <a:pPr algn="l" indent="0" marL="0">
              <a:buNone/>
            </a:pPr>
            <a:r>
              <a:rPr lang="en-US" sz="1700" b="1" dirty="0">
                <a:solidFill>
                  <a:srgbClr val="990000"/>
                </a:solidFill>
                <a:latin typeface="Arial" pitchFamily="34" charset="0"/>
                <a:ea typeface="Arial" pitchFamily="34" charset="-122"/>
                <a:cs typeface="Arial" pitchFamily="34" charset="-120"/>
              </a:rPr>
              <a:t>3. DCEA</a:t>
            </a:r>
            <a:endParaRPr lang="en-US" sz="1700" dirty="0"/>
          </a:p>
        </p:txBody>
      </p:sp>
      <p:sp>
        <p:nvSpPr>
          <p:cNvPr id="12" name="Text 10"/>
          <p:cNvSpPr/>
          <p:nvPr/>
        </p:nvSpPr>
        <p:spPr>
          <a:xfrm>
            <a:off x="8183880" y="2560320"/>
            <a:ext cx="2926080" cy="2560320"/>
          </a:xfrm>
          <a:prstGeom prst="rect">
            <a:avLst/>
          </a:prstGeom>
          <a:noFill/>
          <a:ln/>
        </p:spPr>
        <p:txBody>
          <a:bodyPr wrap="square" rtlCol="0" anchor="t"/>
          <a:lstStyle/>
          <a:p>
            <a:pPr algn="l" indent="0" marL="0">
              <a:buNone/>
            </a:pPr>
            <a:r>
              <a:rPr lang="en-US" sz="1350" dirty="0">
                <a:solidFill>
                  <a:srgbClr val="434143"/>
                </a:solidFill>
                <a:latin typeface="Arial" pitchFamily="34" charset="0"/>
                <a:ea typeface="Arial" pitchFamily="34" charset="-122"/>
                <a:cs typeface="Arial" pitchFamily="34" charset="-120"/>
              </a:rPr>
              <a:t>Check who benefits from the resulting package, by wealth quintile and by residence</a:t>
            </a:r>
            <a:endParaRPr lang="en-US" sz="1350" dirty="0"/>
          </a:p>
        </p:txBody>
      </p:sp>
      <p:sp>
        <p:nvSpPr>
          <p:cNvPr id="13" name="Text 11"/>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4" name="Text 12"/>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RESULTS  -  COST-EFFECTIVENESS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389 interventions narrowed to a 95-intervention league table</a:t>
            </a:r>
            <a:endParaRPr lang="en-US" sz="2800" dirty="0"/>
          </a:p>
        </p:txBody>
      </p:sp>
      <p:pic>
        <p:nvPicPr>
          <p:cNvPr id="4" name="Image 0" descr="/tmp/claude-0/-home-user-Tuto-test/c5af62e6-580a-50f7-99b9-aad76c71bea2/scratchpad/pptx/funnel_flow.png">    </p:cNvPr>
          <p:cNvPicPr>
            <a:picLocks noChangeAspect="1"/>
          </p:cNvPicPr>
          <p:nvPr/>
        </p:nvPicPr>
        <p:blipFill>
          <a:blip r:embed="rId1"/>
          <a:stretch>
            <a:fillRect/>
          </a:stretch>
        </p:blipFill>
        <p:spPr>
          <a:xfrm>
            <a:off x="548640" y="1600200"/>
            <a:ext cx="6949440" cy="4425696"/>
          </a:xfrm>
          <a:prstGeom prst="rect">
            <a:avLst/>
          </a:prstGeom>
        </p:spPr>
      </p:pic>
      <p:sp>
        <p:nvSpPr>
          <p:cNvPr id="5" name="Text 2"/>
          <p:cNvSpPr/>
          <p:nvPr/>
        </p:nvSpPr>
        <p:spPr>
          <a:xfrm>
            <a:off x="8092440" y="1737360"/>
            <a:ext cx="3566160" cy="932688"/>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95</a:t>
            </a:r>
            <a:endParaRPr lang="en-US" sz="3600" dirty="0"/>
          </a:p>
        </p:txBody>
      </p:sp>
      <p:sp>
        <p:nvSpPr>
          <p:cNvPr id="6" name="Text 3"/>
          <p:cNvSpPr/>
          <p:nvPr/>
        </p:nvSpPr>
        <p:spPr>
          <a:xfrm>
            <a:off x="8092440" y="2670048"/>
            <a:ext cx="3566160" cy="62179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interventions in the final league table</a:t>
            </a:r>
            <a:endParaRPr lang="en-US" sz="1100" dirty="0"/>
          </a:p>
        </p:txBody>
      </p:sp>
      <p:sp>
        <p:nvSpPr>
          <p:cNvPr id="7" name="Text 4"/>
          <p:cNvSpPr/>
          <p:nvPr/>
        </p:nvSpPr>
        <p:spPr>
          <a:xfrm>
            <a:off x="8092440" y="3429000"/>
            <a:ext cx="3566160" cy="932688"/>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85 / 95</a:t>
            </a:r>
            <a:endParaRPr lang="en-US" sz="3600" dirty="0"/>
          </a:p>
        </p:txBody>
      </p:sp>
      <p:sp>
        <p:nvSpPr>
          <p:cNvPr id="8" name="Text 5"/>
          <p:cNvSpPr/>
          <p:nvPr/>
        </p:nvSpPr>
        <p:spPr>
          <a:xfrm>
            <a:off x="8092440" y="4361688"/>
            <a:ext cx="3566160" cy="621792"/>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cost-effective at a $485/DALY threshold</a:t>
            </a:r>
            <a:endParaRPr lang="en-US" sz="1100" dirty="0"/>
          </a:p>
        </p:txBody>
      </p:sp>
      <p:sp>
        <p:nvSpPr>
          <p:cNvPr id="9" name="Text 6"/>
          <p:cNvSpPr/>
          <p:nvPr/>
        </p:nvSpPr>
        <p:spPr>
          <a:xfrm>
            <a:off x="8092440" y="5120640"/>
            <a:ext cx="3566160" cy="914400"/>
          </a:xfrm>
          <a:prstGeom prst="rect">
            <a:avLst/>
          </a:prstGeom>
          <a:noFill/>
          <a:ln/>
        </p:spPr>
        <p:txBody>
          <a:bodyPr wrap="square" rtlCol="0" anchor="t"/>
          <a:lstStyle/>
          <a:p>
            <a:pPr algn="l" indent="0" marL="0">
              <a:buNone/>
            </a:pPr>
            <a:r>
              <a:rPr lang="en-US" sz="1150" i="1" dirty="0">
                <a:solidFill>
                  <a:srgbClr val="7C797C"/>
                </a:solidFill>
                <a:latin typeface="Arial" pitchFamily="34" charset="0"/>
                <a:ea typeface="Arial" pitchFamily="34" charset="-122"/>
                <a:cs typeface="Arial" pitchFamily="34" charset="-120"/>
              </a:rPr>
              <a:t>Four sequential filters: linked to a top-20 GBD cause, unit cost available, effect measured, case-volume data available.</a:t>
            </a:r>
            <a:endParaRPr lang="en-US" sz="1150" dirty="0"/>
          </a:p>
        </p:txBody>
      </p:sp>
      <p:sp>
        <p:nvSpPr>
          <p:cNvPr id="10" name="Text 7"/>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1" name="Text 8"/>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RESULTS  -  COST-EFFECTIVENESS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Ranking by net health benefit, not cost-effectiveness alone</a:t>
            </a:r>
            <a:endParaRPr lang="en-US" sz="2800" dirty="0"/>
          </a:p>
        </p:txBody>
      </p:sp>
      <p:pic>
        <p:nvPicPr>
          <p:cNvPr id="4" name="Image 0" descr="/tmp/claude-0/-home-user-Tuto-test/c5af62e6-580a-50f7-99b9-aad76c71bea2/scratchpad/pptx/fig6_net_benefit_ranked.png">    </p:cNvPr>
          <p:cNvPicPr>
            <a:picLocks noChangeAspect="1"/>
          </p:cNvPicPr>
          <p:nvPr/>
        </p:nvPicPr>
        <p:blipFill>
          <a:blip r:embed="rId1"/>
          <a:stretch>
            <a:fillRect/>
          </a:stretch>
        </p:blipFill>
        <p:spPr>
          <a:xfrm>
            <a:off x="1912468" y="1783080"/>
            <a:ext cx="8366760" cy="4572000"/>
          </a:xfrm>
          <a:prstGeom prst="rect">
            <a:avLst/>
          </a:prstGeom>
        </p:spPr>
      </p:pic>
      <p:sp>
        <p:nvSpPr>
          <p:cNvPr id="5" name="Text 2"/>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6" name="Text 3"/>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METHOD  -  CONSTRAINED OPTIMIZATION</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Being cost-effective is not enough: can it be delivered?</a:t>
            </a:r>
            <a:endParaRPr lang="en-US" sz="2800" dirty="0"/>
          </a:p>
        </p:txBody>
      </p:sp>
      <p:sp>
        <p:nvSpPr>
          <p:cNvPr id="4" name="Text 2"/>
          <p:cNvSpPr/>
          <p:nvPr/>
        </p:nvSpPr>
        <p:spPr>
          <a:xfrm>
            <a:off x="548640" y="1783080"/>
            <a:ext cx="5212080" cy="4206240"/>
          </a:xfrm>
          <a:prstGeom prst="rect">
            <a:avLst/>
          </a:prstGeom>
          <a:noFill/>
          <a:ln/>
        </p:spPr>
        <p:txBody>
          <a:bodyPr wrap="square" rtlCol="0" anchor="t"/>
          <a:lstStyle/>
          <a:p>
            <a:pPr algn="l" marL="228600" indent="-228600">
              <a:spcAft>
                <a:spcPts val="1600"/>
              </a:spcAft>
              <a:buSzPct val="100000"/>
              <a:buChar char="•"/>
            </a:pPr>
            <a:r>
              <a:rPr lang="en-US" sz="1550" dirty="0">
                <a:solidFill>
                  <a:srgbClr val="434143"/>
                </a:solidFill>
                <a:latin typeface="Arial" pitchFamily="34" charset="0"/>
                <a:ea typeface="Arial" pitchFamily="34" charset="-122"/>
                <a:cs typeface="Arial" pitchFamily="34" charset="-120"/>
              </a:rPr>
              <a:t>A linear program chooses each intervention's coverage level to maximize total net health benefit</a:t>
            </a:r>
            <a:endParaRPr lang="en-US" sz="1550" dirty="0"/>
          </a:p>
          <a:p>
            <a:pPr algn="l" marL="228600" indent="-228600">
              <a:spcAft>
                <a:spcPts val="1600"/>
              </a:spcAft>
              <a:buSzPct val="100000"/>
              <a:buChar char="•"/>
            </a:pPr>
            <a:r>
              <a:rPr lang="en-US" sz="1550" dirty="0">
                <a:solidFill>
                  <a:srgbClr val="434143"/>
                </a:solidFill>
                <a:latin typeface="Arial" pitchFamily="34" charset="0"/>
                <a:ea typeface="Arial" pitchFamily="34" charset="-122"/>
                <a:cs typeface="Arial" pitchFamily="34" charset="-120"/>
              </a:rPr>
              <a:t>Financial constraint: available consumables budget</a:t>
            </a:r>
            <a:endParaRPr lang="en-US" sz="1550" dirty="0"/>
          </a:p>
          <a:p>
            <a:pPr algn="l" marL="228600" indent="-228600">
              <a:spcAft>
                <a:spcPts val="1600"/>
              </a:spcAft>
              <a:buSzPct val="100000"/>
              <a:buChar char="•"/>
            </a:pPr>
            <a:r>
              <a:rPr lang="en-US" sz="1550" dirty="0">
                <a:solidFill>
                  <a:srgbClr val="434143"/>
                </a:solidFill>
                <a:latin typeface="Arial" pitchFamily="34" charset="0"/>
                <a:ea typeface="Arial" pitchFamily="34" charset="-122"/>
                <a:cs typeface="Arial" pitchFamily="34" charset="-120"/>
              </a:rPr>
              <a:t>Workforce constraint: available time by cadre (doctors, nurses, pharmacists...)</a:t>
            </a:r>
            <a:endParaRPr lang="en-US" sz="1550" dirty="0"/>
          </a:p>
        </p:txBody>
      </p:sp>
      <p:sp>
        <p:nvSpPr>
          <p:cNvPr id="5" name="Shape 3"/>
          <p:cNvSpPr/>
          <p:nvPr/>
        </p:nvSpPr>
        <p:spPr>
          <a:xfrm>
            <a:off x="6537960" y="1783080"/>
            <a:ext cx="5074920" cy="4206240"/>
          </a:xfrm>
          <a:prstGeom prst="roundRect">
            <a:avLst>
              <a:gd name="adj" fmla="val 1739"/>
            </a:avLst>
          </a:prstGeom>
          <a:solidFill>
            <a:srgbClr val="000066"/>
          </a:solidFill>
          <a:ln/>
        </p:spPr>
      </p:sp>
      <p:sp>
        <p:nvSpPr>
          <p:cNvPr id="6" name="Text 4"/>
          <p:cNvSpPr/>
          <p:nvPr/>
        </p:nvSpPr>
        <p:spPr>
          <a:xfrm>
            <a:off x="6858000" y="2011680"/>
            <a:ext cx="4480560" cy="45720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What this changes in practice</a:t>
            </a:r>
            <a:endParaRPr lang="en-US" sz="1500" dirty="0"/>
          </a:p>
        </p:txBody>
      </p:sp>
      <p:sp>
        <p:nvSpPr>
          <p:cNvPr id="7" name="Text 5"/>
          <p:cNvSpPr/>
          <p:nvPr/>
        </p:nvSpPr>
        <p:spPr>
          <a:xfrm>
            <a:off x="6858000" y="2560320"/>
            <a:ext cx="4480560" cy="3200400"/>
          </a:xfrm>
          <a:prstGeom prst="rect">
            <a:avLst/>
          </a:prstGeom>
          <a:noFill/>
          <a:ln/>
        </p:spPr>
        <p:txBody>
          <a:bodyPr wrap="square" rtlCol="0" anchor="t"/>
          <a:lstStyle/>
          <a:p>
            <a:pPr algn="l" marL="228600" indent="-228600">
              <a:spcAft>
                <a:spcPts val="1200"/>
              </a:spcAft>
              <a:buSzPct val="100000"/>
              <a:buChar char="•"/>
            </a:pPr>
            <a:r>
              <a:rPr lang="en-US" sz="1350" dirty="0">
                <a:solidFill>
                  <a:srgbClr val="FFFFFF"/>
                </a:solidFill>
                <a:latin typeface="Arial" pitchFamily="34" charset="0"/>
                <a:ea typeface="Arial" pitchFamily="34" charset="-122"/>
                <a:cs typeface="Arial" pitchFamily="34" charset="-120"/>
              </a:rPr>
              <a:t>More budget, staff, or a higher CET can bring new interventions into the package</a:t>
            </a:r>
            <a:endParaRPr lang="en-US" sz="1350" dirty="0"/>
          </a:p>
          <a:p>
            <a:pPr algn="l" marL="228600" indent="-228600">
              <a:spcAft>
                <a:spcPts val="1200"/>
              </a:spcAft>
              <a:buSzPct val="100000"/>
              <a:buChar char="•"/>
            </a:pPr>
            <a:r>
              <a:rPr lang="en-US" sz="1350" dirty="0">
                <a:solidFill>
                  <a:srgbClr val="FFFFFF"/>
                </a:solidFill>
                <a:latin typeface="Arial" pitchFamily="34" charset="0"/>
                <a:ea typeface="Arial" pitchFamily="34" charset="-122"/>
                <a:cs typeface="Arial" pitchFamily="34" charset="-120"/>
              </a:rPr>
              <a:t>A tighter constraint excludes some, even cost-effective ones</a:t>
            </a:r>
            <a:endParaRPr lang="en-US" sz="1350" dirty="0"/>
          </a:p>
          <a:p>
            <a:pPr algn="l" marL="228600" indent="-228600">
              <a:spcAft>
                <a:spcPts val="1200"/>
              </a:spcAft>
              <a:buSzPct val="100000"/>
              <a:buChar char="•"/>
            </a:pPr>
            <a:r>
              <a:rPr lang="en-US" sz="1350" dirty="0">
                <a:solidFill>
                  <a:srgbClr val="FFFFFF"/>
                </a:solidFill>
                <a:latin typeface="Arial" pitchFamily="34" charset="0"/>
                <a:ea typeface="Arial" pitchFamily="34" charset="-122"/>
                <a:cs typeface="Arial" pitchFamily="34" charset="-120"/>
              </a:rPr>
              <a:t>The model identifies exactly which resource binds, and by how much</a:t>
            </a:r>
            <a:endParaRPr lang="en-US" sz="1350" dirty="0"/>
          </a:p>
        </p:txBody>
      </p:sp>
      <p:sp>
        <p:nvSpPr>
          <p:cNvPr id="8" name="Text 6"/>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9"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RESULTS  -  OPTIMIZATION</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The real bottleneck: workforce, not the interventions</a:t>
            </a:r>
            <a:endParaRPr lang="en-US" sz="2800" dirty="0"/>
          </a:p>
        </p:txBody>
      </p:sp>
      <p:pic>
        <p:nvPicPr>
          <p:cNvPr id="4" name="Image 0" descr="/tmp/claude-0/-home-user-Tuto-test/c5af62e6-580a-50f7-99b9-aad76c71bea2/scratchpad/pptx/optimization_fig0_resource_gap.png">    </p:cNvPr>
          <p:cNvPicPr>
            <a:picLocks noChangeAspect="1"/>
          </p:cNvPicPr>
          <p:nvPr/>
        </p:nvPicPr>
        <p:blipFill>
          <a:blip r:embed="rId1"/>
          <a:stretch>
            <a:fillRect/>
          </a:stretch>
        </p:blipFill>
        <p:spPr>
          <a:xfrm>
            <a:off x="822960" y="1600200"/>
            <a:ext cx="3995928" cy="4663440"/>
          </a:xfrm>
          <a:prstGeom prst="rect">
            <a:avLst/>
          </a:prstGeom>
        </p:spPr>
      </p:pic>
      <p:sp>
        <p:nvSpPr>
          <p:cNvPr id="5" name="Text 2"/>
          <p:cNvSpPr/>
          <p:nvPr/>
        </p:nvSpPr>
        <p:spPr>
          <a:xfrm>
            <a:off x="5577840" y="1691640"/>
            <a:ext cx="6035040" cy="4754880"/>
          </a:xfrm>
          <a:prstGeom prst="rect">
            <a:avLst/>
          </a:prstGeom>
          <a:noFill/>
          <a:ln/>
        </p:spPr>
        <p:txBody>
          <a:bodyPr wrap="square" rtlCol="0" anchor="t"/>
          <a:lstStyle/>
          <a:p>
            <a:pPr algn="l" marL="228600" indent="-228600">
              <a:spcAft>
                <a:spcPts val="1600"/>
              </a:spcAft>
              <a:buSzPct val="100000"/>
              <a:buChar char="•"/>
            </a:pPr>
            <a:r>
              <a:rPr lang="en-US" sz="1500" dirty="0">
                <a:solidFill>
                  <a:srgbClr val="434143"/>
                </a:solidFill>
                <a:latin typeface="Arial" pitchFamily="34" charset="0"/>
                <a:ea typeface="Arial" pitchFamily="34" charset="-122"/>
                <a:cs typeface="Arial" pitchFamily="34" charset="-120"/>
              </a:rPr>
              <a:t>Without constraints: mental-health staff need would exceed 6x current capacity; consumables budget over 5x</a:t>
            </a:r>
            <a:endParaRPr lang="en-US" sz="1500" dirty="0"/>
          </a:p>
          <a:p>
            <a:pPr algn="l" marL="228600" indent="-228600">
              <a:spcAft>
                <a:spcPts val="1600"/>
              </a:spcAft>
              <a:buSzPct val="100000"/>
              <a:buChar char="•"/>
            </a:pPr>
            <a:r>
              <a:rPr lang="en-US" sz="1500" dirty="0">
                <a:solidFill>
                  <a:srgbClr val="434143"/>
                </a:solidFill>
                <a:latin typeface="Arial" pitchFamily="34" charset="0"/>
                <a:ea typeface="Arial" pitchFamily="34" charset="-122"/>
                <a:cs typeface="Arial" pitchFamily="34" charset="-120"/>
              </a:rPr>
              <a:t>Once constraints apply, the budget uses 100% of its envelope: it is the binding limit</a:t>
            </a:r>
            <a:endParaRPr lang="en-US" sz="1500" dirty="0"/>
          </a:p>
          <a:p>
            <a:pPr algn="l" marL="228600" indent="-228600">
              <a:spcAft>
                <a:spcPts val="1600"/>
              </a:spcAft>
              <a:buSzPct val="100000"/>
              <a:buChar char="•"/>
            </a:pPr>
            <a:r>
              <a:rPr lang="en-US" sz="1500" dirty="0">
                <a:solidFill>
                  <a:srgbClr val="434143"/>
                </a:solidFill>
                <a:latin typeface="Arial" pitchFamily="34" charset="0"/>
                <a:ea typeface="Arial" pitchFamily="34" charset="-122"/>
                <a:cs typeface="Arial" pitchFamily="34" charset="-120"/>
              </a:rPr>
              <a:t>General medical staff retain slack; mental-health services are almost entirely crowded out</a:t>
            </a:r>
            <a:endParaRPr lang="en-US" sz="1500" dirty="0"/>
          </a:p>
        </p:txBody>
      </p:sp>
      <p:sp>
        <p:nvSpPr>
          <p:cNvPr id="6" name="Text 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7"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RESULTS  -  OPTIMIZATION</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Four scenarios, one explicit trade-off</a:t>
            </a:r>
            <a:endParaRPr lang="en-US" sz="2800" dirty="0"/>
          </a:p>
        </p:txBody>
      </p:sp>
      <p:sp>
        <p:nvSpPr>
          <p:cNvPr id="4" name="Shape 2"/>
          <p:cNvSpPr/>
          <p:nvPr/>
        </p:nvSpPr>
        <p:spPr>
          <a:xfrm>
            <a:off x="548640" y="1828800"/>
            <a:ext cx="5760720" cy="502920"/>
          </a:xfrm>
          <a:prstGeom prst="rect">
            <a:avLst/>
          </a:prstGeom>
          <a:solidFill>
            <a:srgbClr val="000066"/>
          </a:solidFill>
          <a:ln/>
        </p:spPr>
      </p:sp>
      <p:sp>
        <p:nvSpPr>
          <p:cNvPr id="5" name="Text 3"/>
          <p:cNvSpPr/>
          <p:nvPr/>
        </p:nvSpPr>
        <p:spPr>
          <a:xfrm>
            <a:off x="685800" y="1828800"/>
            <a:ext cx="548640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Scenario</a:t>
            </a:r>
            <a:endParaRPr lang="en-US" sz="1300" dirty="0"/>
          </a:p>
        </p:txBody>
      </p:sp>
      <p:sp>
        <p:nvSpPr>
          <p:cNvPr id="6" name="Shape 4"/>
          <p:cNvSpPr/>
          <p:nvPr/>
        </p:nvSpPr>
        <p:spPr>
          <a:xfrm>
            <a:off x="6309360" y="1828800"/>
            <a:ext cx="2743200" cy="502920"/>
          </a:xfrm>
          <a:prstGeom prst="rect">
            <a:avLst/>
          </a:prstGeom>
          <a:solidFill>
            <a:srgbClr val="000066"/>
          </a:solidFill>
          <a:ln/>
        </p:spPr>
      </p:sp>
      <p:sp>
        <p:nvSpPr>
          <p:cNvPr id="7" name="Text 5"/>
          <p:cNvSpPr/>
          <p:nvPr/>
        </p:nvSpPr>
        <p:spPr>
          <a:xfrm>
            <a:off x="6446520" y="1828800"/>
            <a:ext cx="246888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Interventions</a:t>
            </a:r>
            <a:endParaRPr lang="en-US" sz="1300" dirty="0"/>
          </a:p>
        </p:txBody>
      </p:sp>
      <p:sp>
        <p:nvSpPr>
          <p:cNvPr id="8" name="Shape 6"/>
          <p:cNvSpPr/>
          <p:nvPr/>
        </p:nvSpPr>
        <p:spPr>
          <a:xfrm>
            <a:off x="9052560" y="1828800"/>
            <a:ext cx="2194560" cy="502920"/>
          </a:xfrm>
          <a:prstGeom prst="rect">
            <a:avLst/>
          </a:prstGeom>
          <a:solidFill>
            <a:srgbClr val="000066"/>
          </a:solidFill>
          <a:ln/>
        </p:spPr>
      </p:sp>
      <p:sp>
        <p:nvSpPr>
          <p:cNvPr id="9" name="Text 7"/>
          <p:cNvSpPr/>
          <p:nvPr/>
        </p:nvSpPr>
        <p:spPr>
          <a:xfrm>
            <a:off x="9189720" y="1828800"/>
            <a:ext cx="19202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Net DALYs</a:t>
            </a:r>
            <a:endParaRPr lang="en-US" sz="1300" dirty="0"/>
          </a:p>
        </p:txBody>
      </p:sp>
      <p:sp>
        <p:nvSpPr>
          <p:cNvPr id="10" name="Shape 8"/>
          <p:cNvSpPr/>
          <p:nvPr/>
        </p:nvSpPr>
        <p:spPr>
          <a:xfrm>
            <a:off x="548640" y="2331720"/>
            <a:ext cx="5760720" cy="566928"/>
          </a:xfrm>
          <a:prstGeom prst="rect">
            <a:avLst/>
          </a:prstGeom>
          <a:solidFill>
            <a:srgbClr val="FFFFFF"/>
          </a:solidFill>
          <a:ln w="6350">
            <a:solidFill>
              <a:srgbClr val="D0CCD0"/>
            </a:solidFill>
            <a:prstDash val="solid"/>
          </a:ln>
        </p:spPr>
      </p:sp>
      <p:sp>
        <p:nvSpPr>
          <p:cNvPr id="11" name="Text 9"/>
          <p:cNvSpPr/>
          <p:nvPr/>
        </p:nvSpPr>
        <p:spPr>
          <a:xfrm>
            <a:off x="685800" y="2331720"/>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No constraint (CET only)</a:t>
            </a:r>
            <a:endParaRPr lang="en-US" sz="1300" dirty="0"/>
          </a:p>
        </p:txBody>
      </p:sp>
      <p:sp>
        <p:nvSpPr>
          <p:cNvPr id="12" name="Shape 10"/>
          <p:cNvSpPr/>
          <p:nvPr/>
        </p:nvSpPr>
        <p:spPr>
          <a:xfrm>
            <a:off x="6309360" y="2331720"/>
            <a:ext cx="2743200" cy="566928"/>
          </a:xfrm>
          <a:prstGeom prst="rect">
            <a:avLst/>
          </a:prstGeom>
          <a:solidFill>
            <a:srgbClr val="FFFFFF"/>
          </a:solidFill>
          <a:ln w="6350">
            <a:solidFill>
              <a:srgbClr val="D0CCD0"/>
            </a:solidFill>
            <a:prstDash val="solid"/>
          </a:ln>
        </p:spPr>
      </p:sp>
      <p:sp>
        <p:nvSpPr>
          <p:cNvPr id="13" name="Text 11"/>
          <p:cNvSpPr/>
          <p:nvPr/>
        </p:nvSpPr>
        <p:spPr>
          <a:xfrm>
            <a:off x="6446520" y="2331720"/>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77 / 95</a:t>
            </a:r>
            <a:endParaRPr lang="en-US" sz="1300" dirty="0"/>
          </a:p>
        </p:txBody>
      </p:sp>
      <p:sp>
        <p:nvSpPr>
          <p:cNvPr id="14" name="Shape 12"/>
          <p:cNvSpPr/>
          <p:nvPr/>
        </p:nvSpPr>
        <p:spPr>
          <a:xfrm>
            <a:off x="9052560" y="2331720"/>
            <a:ext cx="2194560" cy="566928"/>
          </a:xfrm>
          <a:prstGeom prst="rect">
            <a:avLst/>
          </a:prstGeom>
          <a:solidFill>
            <a:srgbClr val="FFFFFF"/>
          </a:solidFill>
          <a:ln w="6350">
            <a:solidFill>
              <a:srgbClr val="D0CCD0"/>
            </a:solidFill>
            <a:prstDash val="solid"/>
          </a:ln>
        </p:spPr>
      </p:sp>
      <p:sp>
        <p:nvSpPr>
          <p:cNvPr id="15" name="Text 13"/>
          <p:cNvSpPr/>
          <p:nvPr/>
        </p:nvSpPr>
        <p:spPr>
          <a:xfrm>
            <a:off x="9189720" y="2331720"/>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81.6 M</a:t>
            </a:r>
            <a:endParaRPr lang="en-US" sz="1300" dirty="0"/>
          </a:p>
        </p:txBody>
      </p:sp>
      <p:sp>
        <p:nvSpPr>
          <p:cNvPr id="16" name="Shape 14"/>
          <p:cNvSpPr/>
          <p:nvPr/>
        </p:nvSpPr>
        <p:spPr>
          <a:xfrm>
            <a:off x="548640" y="2898648"/>
            <a:ext cx="5760720" cy="566928"/>
          </a:xfrm>
          <a:prstGeom prst="rect">
            <a:avLst/>
          </a:prstGeom>
          <a:solidFill>
            <a:srgbClr val="E4E2F0"/>
          </a:solidFill>
          <a:ln w="6350">
            <a:solidFill>
              <a:srgbClr val="D0CCD0"/>
            </a:solidFill>
            <a:prstDash val="solid"/>
          </a:ln>
        </p:spPr>
      </p:sp>
      <p:sp>
        <p:nvSpPr>
          <p:cNvPr id="17" name="Text 15"/>
          <p:cNvSpPr/>
          <p:nvPr/>
        </p:nvSpPr>
        <p:spPr>
          <a:xfrm>
            <a:off x="685800" y="2898648"/>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Budget only ($120M)</a:t>
            </a:r>
            <a:endParaRPr lang="en-US" sz="1300" dirty="0"/>
          </a:p>
        </p:txBody>
      </p:sp>
      <p:sp>
        <p:nvSpPr>
          <p:cNvPr id="18" name="Shape 16"/>
          <p:cNvSpPr/>
          <p:nvPr/>
        </p:nvSpPr>
        <p:spPr>
          <a:xfrm>
            <a:off x="6309360" y="2898648"/>
            <a:ext cx="2743200" cy="566928"/>
          </a:xfrm>
          <a:prstGeom prst="rect">
            <a:avLst/>
          </a:prstGeom>
          <a:solidFill>
            <a:srgbClr val="E4E2F0"/>
          </a:solidFill>
          <a:ln w="6350">
            <a:solidFill>
              <a:srgbClr val="D0CCD0"/>
            </a:solidFill>
            <a:prstDash val="solid"/>
          </a:ln>
        </p:spPr>
      </p:sp>
      <p:sp>
        <p:nvSpPr>
          <p:cNvPr id="19" name="Text 17"/>
          <p:cNvSpPr/>
          <p:nvPr/>
        </p:nvSpPr>
        <p:spPr>
          <a:xfrm>
            <a:off x="6446520" y="2898648"/>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75 / 85</a:t>
            </a:r>
            <a:endParaRPr lang="en-US" sz="1300" dirty="0"/>
          </a:p>
        </p:txBody>
      </p:sp>
      <p:sp>
        <p:nvSpPr>
          <p:cNvPr id="20" name="Shape 18"/>
          <p:cNvSpPr/>
          <p:nvPr/>
        </p:nvSpPr>
        <p:spPr>
          <a:xfrm>
            <a:off x="9052560" y="2898648"/>
            <a:ext cx="2194560" cy="566928"/>
          </a:xfrm>
          <a:prstGeom prst="rect">
            <a:avLst/>
          </a:prstGeom>
          <a:solidFill>
            <a:srgbClr val="E4E2F0"/>
          </a:solidFill>
          <a:ln w="6350">
            <a:solidFill>
              <a:srgbClr val="D0CCD0"/>
            </a:solidFill>
            <a:prstDash val="solid"/>
          </a:ln>
        </p:spPr>
      </p:sp>
      <p:sp>
        <p:nvSpPr>
          <p:cNvPr id="21" name="Text 19"/>
          <p:cNvSpPr/>
          <p:nvPr/>
        </p:nvSpPr>
        <p:spPr>
          <a:xfrm>
            <a:off x="9189720" y="2898648"/>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71.7 M</a:t>
            </a:r>
            <a:endParaRPr lang="en-US" sz="1300" dirty="0"/>
          </a:p>
        </p:txBody>
      </p:sp>
      <p:sp>
        <p:nvSpPr>
          <p:cNvPr id="22" name="Shape 20"/>
          <p:cNvSpPr/>
          <p:nvPr/>
        </p:nvSpPr>
        <p:spPr>
          <a:xfrm>
            <a:off x="548640" y="3465576"/>
            <a:ext cx="5760720" cy="566928"/>
          </a:xfrm>
          <a:prstGeom prst="rect">
            <a:avLst/>
          </a:prstGeom>
          <a:solidFill>
            <a:srgbClr val="FFFFFF"/>
          </a:solidFill>
          <a:ln w="6350">
            <a:solidFill>
              <a:srgbClr val="D0CCD0"/>
            </a:solidFill>
            <a:prstDash val="solid"/>
          </a:ln>
        </p:spPr>
      </p:sp>
      <p:sp>
        <p:nvSpPr>
          <p:cNvPr id="23" name="Text 21"/>
          <p:cNvSpPr/>
          <p:nvPr/>
        </p:nvSpPr>
        <p:spPr>
          <a:xfrm>
            <a:off x="685800" y="3465576"/>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Base scenario (budget + workforce)</a:t>
            </a:r>
            <a:endParaRPr lang="en-US" sz="1300" dirty="0"/>
          </a:p>
        </p:txBody>
      </p:sp>
      <p:sp>
        <p:nvSpPr>
          <p:cNvPr id="24" name="Shape 22"/>
          <p:cNvSpPr/>
          <p:nvPr/>
        </p:nvSpPr>
        <p:spPr>
          <a:xfrm>
            <a:off x="6309360" y="3465576"/>
            <a:ext cx="2743200" cy="566928"/>
          </a:xfrm>
          <a:prstGeom prst="rect">
            <a:avLst/>
          </a:prstGeom>
          <a:solidFill>
            <a:srgbClr val="FFFFFF"/>
          </a:solidFill>
          <a:ln w="6350">
            <a:solidFill>
              <a:srgbClr val="D0CCD0"/>
            </a:solidFill>
            <a:prstDash val="solid"/>
          </a:ln>
        </p:spPr>
      </p:sp>
      <p:sp>
        <p:nvSpPr>
          <p:cNvPr id="25" name="Text 23"/>
          <p:cNvSpPr/>
          <p:nvPr/>
        </p:nvSpPr>
        <p:spPr>
          <a:xfrm>
            <a:off x="6446520" y="3465576"/>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46 / 68</a:t>
            </a:r>
            <a:endParaRPr lang="en-US" sz="1300" dirty="0"/>
          </a:p>
        </p:txBody>
      </p:sp>
      <p:sp>
        <p:nvSpPr>
          <p:cNvPr id="26" name="Shape 24"/>
          <p:cNvSpPr/>
          <p:nvPr/>
        </p:nvSpPr>
        <p:spPr>
          <a:xfrm>
            <a:off x="9052560" y="3465576"/>
            <a:ext cx="2194560" cy="566928"/>
          </a:xfrm>
          <a:prstGeom prst="rect">
            <a:avLst/>
          </a:prstGeom>
          <a:solidFill>
            <a:srgbClr val="FFFFFF"/>
          </a:solidFill>
          <a:ln w="6350">
            <a:solidFill>
              <a:srgbClr val="D0CCD0"/>
            </a:solidFill>
            <a:prstDash val="solid"/>
          </a:ln>
        </p:spPr>
      </p:sp>
      <p:sp>
        <p:nvSpPr>
          <p:cNvPr id="27" name="Text 25"/>
          <p:cNvSpPr/>
          <p:nvPr/>
        </p:nvSpPr>
        <p:spPr>
          <a:xfrm>
            <a:off x="9189720" y="3465576"/>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548640" y="4032504"/>
            <a:ext cx="5760720" cy="566928"/>
          </a:xfrm>
          <a:prstGeom prst="rect">
            <a:avLst/>
          </a:prstGeom>
          <a:solidFill>
            <a:srgbClr val="E4E2F0"/>
          </a:solidFill>
          <a:ln w="6350">
            <a:solidFill>
              <a:srgbClr val="D0CCD0"/>
            </a:solidFill>
            <a:prstDash val="solid"/>
          </a:ln>
        </p:spPr>
      </p:sp>
      <p:sp>
        <p:nvSpPr>
          <p:cNvPr id="29" name="Text 27"/>
          <p:cNvSpPr/>
          <p:nvPr/>
        </p:nvSpPr>
        <p:spPr>
          <a:xfrm>
            <a:off x="685800" y="4032504"/>
            <a:ext cx="548640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With task-shifting</a:t>
            </a:r>
            <a:endParaRPr lang="en-US" sz="1300" dirty="0"/>
          </a:p>
        </p:txBody>
      </p:sp>
      <p:sp>
        <p:nvSpPr>
          <p:cNvPr id="30" name="Shape 28"/>
          <p:cNvSpPr/>
          <p:nvPr/>
        </p:nvSpPr>
        <p:spPr>
          <a:xfrm>
            <a:off x="6309360" y="4032504"/>
            <a:ext cx="2743200" cy="566928"/>
          </a:xfrm>
          <a:prstGeom prst="rect">
            <a:avLst/>
          </a:prstGeom>
          <a:solidFill>
            <a:srgbClr val="E4E2F0"/>
          </a:solidFill>
          <a:ln w="6350">
            <a:solidFill>
              <a:srgbClr val="D0CCD0"/>
            </a:solidFill>
            <a:prstDash val="solid"/>
          </a:ln>
        </p:spPr>
      </p:sp>
      <p:sp>
        <p:nvSpPr>
          <p:cNvPr id="31" name="Text 29"/>
          <p:cNvSpPr/>
          <p:nvPr/>
        </p:nvSpPr>
        <p:spPr>
          <a:xfrm>
            <a:off x="6446520" y="4032504"/>
            <a:ext cx="246888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56 / 68</a:t>
            </a:r>
            <a:endParaRPr lang="en-US" sz="1300" dirty="0"/>
          </a:p>
        </p:txBody>
      </p:sp>
      <p:sp>
        <p:nvSpPr>
          <p:cNvPr id="32" name="Shape 30"/>
          <p:cNvSpPr/>
          <p:nvPr/>
        </p:nvSpPr>
        <p:spPr>
          <a:xfrm>
            <a:off x="9052560" y="4032504"/>
            <a:ext cx="2194560" cy="566928"/>
          </a:xfrm>
          <a:prstGeom prst="rect">
            <a:avLst/>
          </a:prstGeom>
          <a:solidFill>
            <a:srgbClr val="E4E2F0"/>
          </a:solidFill>
          <a:ln w="6350">
            <a:solidFill>
              <a:srgbClr val="D0CCD0"/>
            </a:solidFill>
            <a:prstDash val="solid"/>
          </a:ln>
        </p:spPr>
      </p:sp>
      <p:sp>
        <p:nvSpPr>
          <p:cNvPr id="33" name="Text 31"/>
          <p:cNvSpPr/>
          <p:nvPr/>
        </p:nvSpPr>
        <p:spPr>
          <a:xfrm>
            <a:off x="9189720" y="4032504"/>
            <a:ext cx="1920240" cy="566928"/>
          </a:xfrm>
          <a:prstGeom prst="rect">
            <a:avLst/>
          </a:prstGeom>
          <a:noFill/>
          <a:ln/>
        </p:spPr>
        <p:txBody>
          <a:bodyPr wrap="square" rtlCol="0" anchor="ctr"/>
          <a:lstStyle/>
          <a:p>
            <a:pPr indent="0" marL="0">
              <a:buNone/>
            </a:pPr>
            <a:r>
              <a:rPr lang="en-US" sz="1300" dirty="0">
                <a:solidFill>
                  <a:srgbClr val="434143"/>
                </a:solidFill>
                <a:latin typeface="Arial" pitchFamily="34" charset="0"/>
                <a:ea typeface="Arial" pitchFamily="34" charset="-122"/>
                <a:cs typeface="Arial" pitchFamily="34" charset="-120"/>
              </a:rPr>
              <a:t>-</a:t>
            </a:r>
            <a:endParaRPr lang="en-US" sz="1300" dirty="0"/>
          </a:p>
        </p:txBody>
      </p:sp>
      <p:sp>
        <p:nvSpPr>
          <p:cNvPr id="34" name="Text 32"/>
          <p:cNvSpPr/>
          <p:nvPr/>
        </p:nvSpPr>
        <p:spPr>
          <a:xfrm>
            <a:off x="548640" y="4919472"/>
            <a:ext cx="10607040" cy="914400"/>
          </a:xfrm>
          <a:prstGeom prst="rect">
            <a:avLst/>
          </a:prstGeom>
          <a:noFill/>
          <a:ln/>
        </p:spPr>
        <p:txBody>
          <a:bodyPr wrap="square" rtlCol="0" anchor="t"/>
          <a:lstStyle/>
          <a:p>
            <a:pPr algn="l" indent="0" marL="0">
              <a:buNone/>
            </a:pPr>
            <a:r>
              <a:rPr lang="en-US" sz="1350" i="1" dirty="0">
                <a:solidFill>
                  <a:srgbClr val="7C797C"/>
                </a:solidFill>
                <a:latin typeface="Arial" pitchFamily="34" charset="0"/>
                <a:ea typeface="Arial" pitchFamily="34" charset="-122"/>
                <a:cs typeface="Arial" pitchFamily="34" charset="-120"/>
              </a:rPr>
              <a:t>Shifting pharmacy/nutrition tasks to nurses relieves the pharmaceutical bottleneck and brings in 10 more interventions, at the cost of higher doctor/nurse time use.</a:t>
            </a:r>
            <a:endParaRPr lang="en-US" sz="1350" dirty="0"/>
          </a:p>
        </p:txBody>
      </p:sp>
      <p:sp>
        <p:nvSpPr>
          <p:cNvPr id="35" name="Text 3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36" name="Text 3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METHOD  -  DCEA</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Efficient is not the same as equitable</a:t>
            </a:r>
            <a:endParaRPr lang="en-US" sz="2800" dirty="0"/>
          </a:p>
        </p:txBody>
      </p:sp>
      <p:sp>
        <p:nvSpPr>
          <p:cNvPr id="4" name="Text 2"/>
          <p:cNvSpPr/>
          <p:nvPr/>
        </p:nvSpPr>
        <p:spPr>
          <a:xfrm>
            <a:off x="548640" y="1783080"/>
            <a:ext cx="5394960" cy="4206240"/>
          </a:xfrm>
          <a:prstGeom prst="rect">
            <a:avLst/>
          </a:prstGeom>
          <a:noFill/>
          <a:ln/>
        </p:spPr>
        <p:txBody>
          <a:bodyPr wrap="square" rtlCol="0" anchor="t"/>
          <a:lstStyle/>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DCEA splits each intervention's benefit across wealth quintiles and urban/rural residence</a:t>
            </a:r>
            <a:endParaRPr lang="en-US" sz="1550" dirty="0"/>
          </a:p>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An Atkinson index summarizes each group's health in one number (EDE), sensitive to gaps between groups</a:t>
            </a:r>
            <a:endParaRPr lang="en-US" sz="1550" dirty="0"/>
          </a:p>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A parameter (epsilon) sets how harshly inequality is penalized: 10 as reference, tested at 2 and 25 too</a:t>
            </a:r>
            <a:endParaRPr lang="en-US" sz="1550" dirty="0"/>
          </a:p>
          <a:p>
            <a:pPr algn="l" marL="228600" indent="-228600">
              <a:spcAft>
                <a:spcPts val="1400"/>
              </a:spcAft>
              <a:buSzPct val="100000"/>
              <a:buChar char="•"/>
            </a:pPr>
            <a:r>
              <a:rPr lang="en-US" sz="1550" dirty="0">
                <a:solidFill>
                  <a:srgbClr val="434143"/>
                </a:solidFill>
                <a:latin typeface="Arial" pitchFamily="34" charset="0"/>
                <a:ea typeface="Arial" pitchFamily="34" charset="-122"/>
                <a:cs typeface="Arial" pitchFamily="34" charset="-120"/>
              </a:rPr>
              <a:t>Result: the package's impact on inequality, not just on average health</a:t>
            </a:r>
            <a:endParaRPr lang="en-US" sz="1550" dirty="0"/>
          </a:p>
        </p:txBody>
      </p:sp>
      <p:sp>
        <p:nvSpPr>
          <p:cNvPr id="5" name="Shape 3"/>
          <p:cNvSpPr/>
          <p:nvPr/>
        </p:nvSpPr>
        <p:spPr>
          <a:xfrm>
            <a:off x="6675120" y="1783080"/>
            <a:ext cx="4937760" cy="4206240"/>
          </a:xfrm>
          <a:prstGeom prst="roundRect">
            <a:avLst>
              <a:gd name="adj" fmla="val 1739"/>
            </a:avLst>
          </a:prstGeom>
          <a:solidFill>
            <a:srgbClr val="D0ECFB"/>
          </a:solidFill>
          <a:ln/>
        </p:spPr>
      </p:sp>
      <p:sp>
        <p:nvSpPr>
          <p:cNvPr id="6" name="Text 4"/>
          <p:cNvSpPr/>
          <p:nvPr/>
        </p:nvSpPr>
        <p:spPr>
          <a:xfrm>
            <a:off x="6995160" y="2011680"/>
            <a:ext cx="4297680" cy="457200"/>
          </a:xfrm>
          <a:prstGeom prst="rect">
            <a:avLst/>
          </a:prstGeom>
          <a:noFill/>
          <a:ln/>
        </p:spPr>
        <p:txBody>
          <a:bodyPr wrap="square" rtlCol="0" anchor="ctr"/>
          <a:lstStyle/>
          <a:p>
            <a:pPr algn="l" indent="0" marL="0">
              <a:buNone/>
            </a:pPr>
            <a:r>
              <a:rPr lang="en-US" sz="1500" b="1" dirty="0">
                <a:solidFill>
                  <a:srgbClr val="006699"/>
                </a:solidFill>
                <a:latin typeface="Arial" pitchFamily="34" charset="0"/>
                <a:ea typeface="Arial" pitchFamily="34" charset="-122"/>
                <a:cs typeface="Arial" pitchFamily="34" charset="-120"/>
              </a:rPr>
              <a:t>Reading the equity plane</a:t>
            </a:r>
            <a:endParaRPr lang="en-US" sz="1500" dirty="0"/>
          </a:p>
        </p:txBody>
      </p:sp>
      <p:sp>
        <p:nvSpPr>
          <p:cNvPr id="7" name="Text 5"/>
          <p:cNvSpPr/>
          <p:nvPr/>
        </p:nvSpPr>
        <p:spPr>
          <a:xfrm>
            <a:off x="6995160" y="2560320"/>
            <a:ext cx="4297680" cy="3200400"/>
          </a:xfrm>
          <a:prstGeom prst="rect">
            <a:avLst/>
          </a:prstGeom>
          <a:noFill/>
          <a:ln/>
        </p:spPr>
        <p:txBody>
          <a:bodyPr wrap="square" rtlCol="0" anchor="t"/>
          <a:lstStyle/>
          <a:p>
            <a:pPr algn="l" marL="228600" indent="-228600">
              <a:spcAft>
                <a:spcPts val="1200"/>
              </a:spcAft>
              <a:buSzPct val="100000"/>
              <a:buChar char="•"/>
            </a:pPr>
            <a:r>
              <a:rPr lang="en-US" sz="1350" dirty="0">
                <a:solidFill>
                  <a:srgbClr val="434143"/>
                </a:solidFill>
                <a:latin typeface="Arial" pitchFamily="34" charset="0"/>
                <a:ea typeface="Arial" pitchFamily="34" charset="-122"/>
                <a:cs typeface="Arial" pitchFamily="34" charset="-120"/>
              </a:rPr>
              <a:t>Vertical axis: total net health benefit</a:t>
            </a:r>
            <a:endParaRPr lang="en-US" sz="1350" dirty="0"/>
          </a:p>
          <a:p>
            <a:pPr algn="l" marL="228600" indent="-228600">
              <a:spcAft>
                <a:spcPts val="1200"/>
              </a:spcAft>
              <a:buSzPct val="100000"/>
              <a:buChar char="•"/>
            </a:pPr>
            <a:r>
              <a:rPr lang="en-US" sz="1350" dirty="0">
                <a:solidFill>
                  <a:srgbClr val="434143"/>
                </a:solidFill>
                <a:latin typeface="Arial" pitchFamily="34" charset="0"/>
                <a:ea typeface="Arial" pitchFamily="34" charset="-122"/>
                <a:cs typeface="Arial" pitchFamily="34" charset="-120"/>
              </a:rPr>
              <a:t>Horizontal axis: inequality impact (left = widens the gap, right = narrows it)</a:t>
            </a:r>
            <a:endParaRPr lang="en-US" sz="1350" dirty="0"/>
          </a:p>
          <a:p>
            <a:pPr algn="l" marL="228600" indent="-228600">
              <a:spcAft>
                <a:spcPts val="1200"/>
              </a:spcAft>
              <a:buSzPct val="100000"/>
              <a:buChar char="•"/>
            </a:pPr>
            <a:r>
              <a:rPr lang="en-US" sz="1350" dirty="0">
                <a:solidFill>
                  <a:srgbClr val="434143"/>
                </a:solidFill>
                <a:latin typeface="Arial" pitchFamily="34" charset="0"/>
                <a:ea typeface="Arial" pitchFamily="34" charset="-122"/>
                <a:cs typeface="Arial" pitchFamily="34" charset="-120"/>
              </a:rPr>
              <a:t>Each point is one intervention</a:t>
            </a:r>
            <a:endParaRPr lang="en-US" sz="1350" dirty="0"/>
          </a:p>
        </p:txBody>
      </p:sp>
      <p:sp>
        <p:nvSpPr>
          <p:cNvPr id="8" name="Text 6"/>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9" name="Text 7"/>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RESULTS  -  DCEA</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One intervention drives most of the equity result</a:t>
            </a:r>
            <a:endParaRPr lang="en-US" sz="2800" dirty="0"/>
          </a:p>
        </p:txBody>
      </p:sp>
      <p:pic>
        <p:nvPicPr>
          <p:cNvPr id="4" name="Image 0" descr="/tmp/claude-0/-home-user-Tuto-test/c5af62e6-580a-50f7-99b9-aad76c71bea2/scratchpad/pptx/dcea_equity_plane_wealth.png">    </p:cNvPr>
          <p:cNvPicPr>
            <a:picLocks noChangeAspect="1"/>
          </p:cNvPicPr>
          <p:nvPr/>
        </p:nvPicPr>
        <p:blipFill>
          <a:blip r:embed="rId1"/>
          <a:stretch>
            <a:fillRect/>
          </a:stretch>
        </p:blipFill>
        <p:spPr>
          <a:xfrm>
            <a:off x="457200" y="1600200"/>
            <a:ext cx="5943600" cy="4617720"/>
          </a:xfrm>
          <a:prstGeom prst="rect">
            <a:avLst/>
          </a:prstGeom>
        </p:spPr>
      </p:pic>
      <p:sp>
        <p:nvSpPr>
          <p:cNvPr id="5" name="Text 2"/>
          <p:cNvSpPr/>
          <p:nvPr/>
        </p:nvSpPr>
        <p:spPr>
          <a:xfrm>
            <a:off x="6858000" y="1691640"/>
            <a:ext cx="4754880" cy="850392"/>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74%</a:t>
            </a:r>
            <a:endParaRPr lang="en-US" sz="3600" dirty="0"/>
          </a:p>
        </p:txBody>
      </p:sp>
      <p:sp>
        <p:nvSpPr>
          <p:cNvPr id="6" name="Text 3"/>
          <p:cNvSpPr/>
          <p:nvPr/>
        </p:nvSpPr>
        <p:spPr>
          <a:xfrm>
            <a:off x="6858000" y="2542032"/>
            <a:ext cx="4754880" cy="566928"/>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of total net benefit (malaria treatment, children 0-4)</a:t>
            </a:r>
            <a:endParaRPr lang="en-US" sz="1100" dirty="0"/>
          </a:p>
        </p:txBody>
      </p:sp>
      <p:sp>
        <p:nvSpPr>
          <p:cNvPr id="7" name="Text 4"/>
          <p:cNvSpPr/>
          <p:nvPr/>
        </p:nvSpPr>
        <p:spPr>
          <a:xfrm>
            <a:off x="6858000" y="3246120"/>
            <a:ext cx="4754880" cy="850392"/>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-9.8 M</a:t>
            </a:r>
            <a:endParaRPr lang="en-US" sz="3600" dirty="0"/>
          </a:p>
        </p:txBody>
      </p:sp>
      <p:sp>
        <p:nvSpPr>
          <p:cNvPr id="8" name="Text 5"/>
          <p:cNvSpPr/>
          <p:nvPr/>
        </p:nvSpPr>
        <p:spPr>
          <a:xfrm>
            <a:off x="6858000" y="4096512"/>
            <a:ext cx="4754880" cy="566928"/>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widening of wealth-quintile inequality (epsilon=10)</a:t>
            </a:r>
            <a:endParaRPr lang="en-US" sz="1100" dirty="0"/>
          </a:p>
        </p:txBody>
      </p:sp>
      <p:sp>
        <p:nvSpPr>
          <p:cNvPr id="9" name="Text 6"/>
          <p:cNvSpPr/>
          <p:nvPr/>
        </p:nvSpPr>
        <p:spPr>
          <a:xfrm>
            <a:off x="6858000" y="4800600"/>
            <a:ext cx="4754880" cy="850392"/>
          </a:xfrm>
          <a:prstGeom prst="rect">
            <a:avLst/>
          </a:prstGeom>
          <a:noFill/>
          <a:ln/>
        </p:spPr>
        <p:txBody>
          <a:bodyPr wrap="square" rtlCol="0" anchor="b"/>
          <a:lstStyle/>
          <a:p>
            <a:pPr algn="ctr" indent="0" marL="0">
              <a:buNone/>
            </a:pPr>
            <a:r>
              <a:rPr lang="en-US" sz="3600" b="1" dirty="0">
                <a:solidFill>
                  <a:srgbClr val="000066"/>
                </a:solidFill>
                <a:latin typeface="Arial" pitchFamily="34" charset="0"/>
                <a:ea typeface="Arial" pitchFamily="34" charset="-122"/>
                <a:cs typeface="Arial" pitchFamily="34" charset="-120"/>
              </a:rPr>
              <a:t>+9.7 M</a:t>
            </a:r>
            <a:endParaRPr lang="en-US" sz="3600" dirty="0"/>
          </a:p>
        </p:txBody>
      </p:sp>
      <p:sp>
        <p:nvSpPr>
          <p:cNvPr id="10" name="Text 7"/>
          <p:cNvSpPr/>
          <p:nvPr/>
        </p:nvSpPr>
        <p:spPr>
          <a:xfrm>
            <a:off x="6858000" y="5650992"/>
            <a:ext cx="4754880" cy="566928"/>
          </a:xfrm>
          <a:prstGeom prst="rect">
            <a:avLst/>
          </a:prstGeom>
          <a:noFill/>
          <a:ln/>
        </p:spPr>
        <p:txBody>
          <a:bodyPr wrap="square" rtlCol="0" anchor="t"/>
          <a:lstStyle/>
          <a:p>
            <a:pPr algn="ctr" indent="0" marL="0">
              <a:buNone/>
            </a:pPr>
            <a:r>
              <a:rPr lang="en-US" sz="1100" dirty="0">
                <a:solidFill>
                  <a:srgbClr val="434143"/>
                </a:solidFill>
                <a:latin typeface="Arial" pitchFamily="34" charset="0"/>
                <a:ea typeface="Arial" pitchFamily="34" charset="-122"/>
                <a:cs typeface="Arial" pitchFamily="34" charset="-120"/>
              </a:rPr>
              <a:t>narrowing of the urban/rural gap</a:t>
            </a:r>
            <a:endParaRPr lang="en-US" sz="1100" dirty="0"/>
          </a:p>
        </p:txBody>
      </p:sp>
      <p:sp>
        <p:nvSpPr>
          <p:cNvPr id="11" name="Text 8"/>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2" name="Text 9"/>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66"/>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SYNTHESIS</a:t>
            </a:r>
            <a:endParaRPr lang="en-US" sz="1200" dirty="0"/>
          </a:p>
        </p:txBody>
      </p:sp>
      <p:sp>
        <p:nvSpPr>
          <p:cNvPr id="3" name="Text 1"/>
          <p:cNvSpPr/>
          <p:nvPr/>
        </p:nvSpPr>
        <p:spPr>
          <a:xfrm>
            <a:off x="548640" y="457200"/>
            <a:ext cx="11094415" cy="822960"/>
          </a:xfrm>
          <a:prstGeom prst="rect">
            <a:avLst/>
          </a:prstGeom>
          <a:noFill/>
          <a:ln/>
        </p:spPr>
        <p:txBody>
          <a:bodyPr wrap="square"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Three takeaways</a:t>
            </a:r>
            <a:endParaRPr lang="en-US" sz="3000" dirty="0"/>
          </a:p>
        </p:txBody>
      </p:sp>
      <p:sp>
        <p:nvSpPr>
          <p:cNvPr id="4" name="Shape 2"/>
          <p:cNvSpPr/>
          <p:nvPr/>
        </p:nvSpPr>
        <p:spPr>
          <a:xfrm>
            <a:off x="548640" y="1691640"/>
            <a:ext cx="11094415" cy="1417320"/>
          </a:xfrm>
          <a:prstGeom prst="roundRect">
            <a:avLst>
              <a:gd name="adj" fmla="val 3871"/>
            </a:avLst>
          </a:prstGeom>
          <a:solidFill>
            <a:srgbClr val="1A1A7A"/>
          </a:solidFill>
          <a:ln/>
        </p:spPr>
      </p:sp>
      <p:sp>
        <p:nvSpPr>
          <p:cNvPr id="5" name="Text 3"/>
          <p:cNvSpPr/>
          <p:nvPr/>
        </p:nvSpPr>
        <p:spPr>
          <a:xfrm>
            <a:off x="822960" y="1828800"/>
            <a:ext cx="10545775" cy="411480"/>
          </a:xfrm>
          <a:prstGeom prst="rect">
            <a:avLst/>
          </a:prstGeom>
          <a:noFill/>
          <a:ln/>
        </p:spPr>
        <p:txBody>
          <a:bodyPr wrap="square" rtlCol="0" anchor="ctr"/>
          <a:lstStyle/>
          <a:p>
            <a:pPr algn="l" indent="0" marL="0">
              <a:buNone/>
            </a:pPr>
            <a:r>
              <a:rPr lang="en-US" sz="1600" b="1" dirty="0">
                <a:solidFill>
                  <a:srgbClr val="0099FF"/>
                </a:solidFill>
                <a:latin typeface="Arial" pitchFamily="34" charset="0"/>
                <a:ea typeface="Arial" pitchFamily="34" charset="-122"/>
                <a:cs typeface="Arial" pitchFamily="34" charset="-120"/>
              </a:rPr>
              <a:t>Cost-effective is not enough</a:t>
            </a:r>
            <a:endParaRPr lang="en-US" sz="1600" dirty="0"/>
          </a:p>
        </p:txBody>
      </p:sp>
      <p:sp>
        <p:nvSpPr>
          <p:cNvPr id="6" name="Text 4"/>
          <p:cNvSpPr/>
          <p:nvPr/>
        </p:nvSpPr>
        <p:spPr>
          <a:xfrm>
            <a:off x="822960" y="2240280"/>
            <a:ext cx="10545775" cy="7772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85 of 95 interventions are individually cost-effective, but workforce constraints exclude nearly half of them.</a:t>
            </a:r>
            <a:endParaRPr lang="en-US" sz="1300" dirty="0"/>
          </a:p>
        </p:txBody>
      </p:sp>
      <p:sp>
        <p:nvSpPr>
          <p:cNvPr id="7" name="Shape 5"/>
          <p:cNvSpPr/>
          <p:nvPr/>
        </p:nvSpPr>
        <p:spPr>
          <a:xfrm>
            <a:off x="548640" y="3291840"/>
            <a:ext cx="11094415" cy="1417320"/>
          </a:xfrm>
          <a:prstGeom prst="roundRect">
            <a:avLst>
              <a:gd name="adj" fmla="val 3871"/>
            </a:avLst>
          </a:prstGeom>
          <a:solidFill>
            <a:srgbClr val="1A1A7A"/>
          </a:solidFill>
          <a:ln/>
        </p:spPr>
      </p:sp>
      <p:sp>
        <p:nvSpPr>
          <p:cNvPr id="8" name="Text 6"/>
          <p:cNvSpPr/>
          <p:nvPr/>
        </p:nvSpPr>
        <p:spPr>
          <a:xfrm>
            <a:off x="822960" y="3429000"/>
            <a:ext cx="10545775" cy="411480"/>
          </a:xfrm>
          <a:prstGeom prst="rect">
            <a:avLst/>
          </a:prstGeom>
          <a:noFill/>
          <a:ln/>
        </p:spPr>
        <p:txBody>
          <a:bodyPr wrap="square" rtlCol="0" anchor="ctr"/>
          <a:lstStyle/>
          <a:p>
            <a:pPr algn="l" indent="0" marL="0">
              <a:buNone/>
            </a:pPr>
            <a:r>
              <a:rPr lang="en-US" sz="1600" b="1" dirty="0">
                <a:solidFill>
                  <a:srgbClr val="0099FF"/>
                </a:solidFill>
                <a:latin typeface="Arial" pitchFamily="34" charset="0"/>
                <a:ea typeface="Arial" pitchFamily="34" charset="-122"/>
                <a:cs typeface="Arial" pitchFamily="34" charset="-120"/>
              </a:rPr>
              <a:t>Workforce, not budget, is the real bottleneck</a:t>
            </a:r>
            <a:endParaRPr lang="en-US" sz="1600" dirty="0"/>
          </a:p>
        </p:txBody>
      </p:sp>
      <p:sp>
        <p:nvSpPr>
          <p:cNvPr id="9" name="Text 7"/>
          <p:cNvSpPr/>
          <p:nvPr/>
        </p:nvSpPr>
        <p:spPr>
          <a:xfrm>
            <a:off x="822960" y="3840480"/>
            <a:ext cx="10545775" cy="7772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The budget saturates at 100% once constraints apply; mental-health staff is the hardest hit.</a:t>
            </a:r>
            <a:endParaRPr lang="en-US" sz="1300" dirty="0"/>
          </a:p>
        </p:txBody>
      </p:sp>
      <p:sp>
        <p:nvSpPr>
          <p:cNvPr id="10" name="Shape 8"/>
          <p:cNvSpPr/>
          <p:nvPr/>
        </p:nvSpPr>
        <p:spPr>
          <a:xfrm>
            <a:off x="548640" y="4892040"/>
            <a:ext cx="11094415" cy="1417320"/>
          </a:xfrm>
          <a:prstGeom prst="roundRect">
            <a:avLst>
              <a:gd name="adj" fmla="val 3871"/>
            </a:avLst>
          </a:prstGeom>
          <a:solidFill>
            <a:srgbClr val="1A1A7A"/>
          </a:solidFill>
          <a:ln/>
        </p:spPr>
      </p:sp>
      <p:sp>
        <p:nvSpPr>
          <p:cNvPr id="11" name="Text 9"/>
          <p:cNvSpPr/>
          <p:nvPr/>
        </p:nvSpPr>
        <p:spPr>
          <a:xfrm>
            <a:off x="822960" y="5029200"/>
            <a:ext cx="10545775" cy="411480"/>
          </a:xfrm>
          <a:prstGeom prst="rect">
            <a:avLst/>
          </a:prstGeom>
          <a:noFill/>
          <a:ln/>
        </p:spPr>
        <p:txBody>
          <a:bodyPr wrap="square" rtlCol="0" anchor="ctr"/>
          <a:lstStyle/>
          <a:p>
            <a:pPr algn="l" indent="0" marL="0">
              <a:buNone/>
            </a:pPr>
            <a:r>
              <a:rPr lang="en-US" sz="1600" b="1" dirty="0">
                <a:solidFill>
                  <a:srgbClr val="0099FF"/>
                </a:solidFill>
                <a:latin typeface="Arial" pitchFamily="34" charset="0"/>
                <a:ea typeface="Arial" pitchFamily="34" charset="-122"/>
                <a:cs typeface="Arial" pitchFamily="34" charset="-120"/>
              </a:rPr>
              <a:t>Efficiency and equity don't always point the same way</a:t>
            </a:r>
            <a:endParaRPr lang="en-US" sz="1600" dirty="0"/>
          </a:p>
        </p:txBody>
      </p:sp>
      <p:sp>
        <p:nvSpPr>
          <p:cNvPr id="12" name="Text 10"/>
          <p:cNvSpPr/>
          <p:nvPr/>
        </p:nvSpPr>
        <p:spPr>
          <a:xfrm>
            <a:off x="822960" y="5440680"/>
            <a:ext cx="10545775" cy="7772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The package slightly widens wealth-quintile inequality while narrowing the urban/rural gap - a trade-off to name explicitly.</a:t>
            </a:r>
            <a:endParaRPr lang="en-US" sz="1300" dirty="0"/>
          </a:p>
        </p:txBody>
      </p:sp>
      <p:sp>
        <p:nvSpPr>
          <p:cNvPr id="13" name="Text 11"/>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14" name="Text 12"/>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11094415" cy="274320"/>
          </a:xfrm>
          <a:prstGeom prst="rect">
            <a:avLst/>
          </a:prstGeom>
          <a:noFill/>
          <a:ln/>
        </p:spPr>
        <p:txBody>
          <a:bodyPr wrap="square" rtlCol="0" anchor="ctr"/>
          <a:lstStyle/>
          <a:p>
            <a:pPr algn="l" indent="0" marL="0">
              <a:buNone/>
            </a:pPr>
            <a:r>
              <a:rPr lang="en-US" sz="1200" b="1" spc="100" kern="0" dirty="0">
                <a:solidFill>
                  <a:srgbClr val="006699"/>
                </a:solidFill>
                <a:latin typeface="Arial" pitchFamily="34" charset="0"/>
                <a:ea typeface="Arial" pitchFamily="34" charset="-122"/>
                <a:cs typeface="Arial" pitchFamily="34" charset="-120"/>
              </a:rPr>
              <a:t>NEXT STEPS</a:t>
            </a:r>
            <a:endParaRPr lang="en-US" sz="1200" dirty="0"/>
          </a:p>
        </p:txBody>
      </p:sp>
      <p:sp>
        <p:nvSpPr>
          <p:cNvPr id="3" name="Text 1"/>
          <p:cNvSpPr/>
          <p:nvPr/>
        </p:nvSpPr>
        <p:spPr>
          <a:xfrm>
            <a:off x="548640" y="411480"/>
            <a:ext cx="11094415" cy="822960"/>
          </a:xfrm>
          <a:prstGeom prst="rect">
            <a:avLst/>
          </a:prstGeom>
          <a:noFill/>
          <a:ln/>
        </p:spPr>
        <p:txBody>
          <a:bodyPr wrap="square" rtlCol="0" anchor="t"/>
          <a:lstStyle/>
          <a:p>
            <a:pPr algn="l" indent="0" marL="0">
              <a:buNone/>
            </a:pPr>
            <a:r>
              <a:rPr lang="en-US" sz="2800" b="1" dirty="0">
                <a:solidFill>
                  <a:srgbClr val="000066"/>
                </a:solidFill>
                <a:latin typeface="Arial" pitchFamily="34" charset="0"/>
                <a:ea typeface="Arial" pitchFamily="34" charset="-122"/>
                <a:cs typeface="Arial" pitchFamily="34" charset="-120"/>
              </a:rPr>
              <a:t>What this first iteration already makes possible</a:t>
            </a:r>
            <a:endParaRPr lang="en-US" sz="2800" dirty="0"/>
          </a:p>
        </p:txBody>
      </p:sp>
      <p:sp>
        <p:nvSpPr>
          <p:cNvPr id="4" name="Text 2"/>
          <p:cNvSpPr/>
          <p:nvPr/>
        </p:nvSpPr>
        <p:spPr>
          <a:xfrm>
            <a:off x="548640" y="1783080"/>
            <a:ext cx="10607040" cy="4297680"/>
          </a:xfrm>
          <a:prstGeom prst="rect">
            <a:avLst/>
          </a:prstGeom>
          <a:noFill/>
          <a:ln/>
        </p:spPr>
        <p:txBody>
          <a:bodyPr wrap="square" rtlCol="0" anchor="t"/>
          <a:lstStyle/>
          <a:p>
            <a:pPr algn="l" marL="228600" indent="-228600">
              <a:spcAft>
                <a:spcPts val="2000"/>
              </a:spcAft>
              <a:buSzPct val="100000"/>
              <a:buChar char="•"/>
            </a:pPr>
            <a:r>
              <a:rPr lang="en-US" sz="1600" dirty="0">
                <a:solidFill>
                  <a:srgbClr val="434143"/>
                </a:solidFill>
                <a:latin typeface="Arial" pitchFamily="34" charset="0"/>
                <a:ea typeface="Arial" pitchFamily="34" charset="-122"/>
                <a:cs typeface="Arial" pitchFamily="34" charset="-120"/>
              </a:rPr>
              <a:t>Refine the inputs as Senegal-specific data becomes available: DHS Continuous microdata for the DCEA baseline, a confirmed MSAS consumables budget, national workforce data to replace the current reference dataset</a:t>
            </a:r>
            <a:endParaRPr lang="en-US" sz="1600" dirty="0"/>
          </a:p>
          <a:p>
            <a:pPr algn="l" marL="228600" indent="-228600">
              <a:spcAft>
                <a:spcPts val="2000"/>
              </a:spcAft>
              <a:buSzPct val="100000"/>
              <a:buChar char="•"/>
            </a:pPr>
            <a:r>
              <a:rPr lang="en-US" sz="1600" dirty="0">
                <a:solidFill>
                  <a:srgbClr val="434143"/>
                </a:solidFill>
                <a:latin typeface="Arial" pitchFamily="34" charset="0"/>
                <a:ea typeface="Arial" pitchFamily="34" charset="-122"/>
                <a:cs typeface="Arial" pitchFamily="34" charset="-120"/>
              </a:rPr>
              <a:t>Test alternative decisions in minutes: a revised CET, a different budget, another task-shifting assumption - the pipeline recomputes everything automatically</a:t>
            </a:r>
            <a:endParaRPr lang="en-US" sz="1600" dirty="0"/>
          </a:p>
          <a:p>
            <a:pPr algn="l" marL="228600" indent="-228600">
              <a:spcAft>
                <a:spcPts val="2000"/>
              </a:spcAft>
              <a:buSzPct val="100000"/>
              <a:buChar char="•"/>
            </a:pPr>
            <a:r>
              <a:rPr lang="en-US" sz="1600" dirty="0">
                <a:solidFill>
                  <a:srgbClr val="434143"/>
                </a:solidFill>
                <a:latin typeface="Arial" pitchFamily="34" charset="0"/>
                <a:ea typeface="Arial" pitchFamily="34" charset="-122"/>
                <a:cs typeface="Arial" pitchFamily="34" charset="-120"/>
              </a:rPr>
              <a:t>Open the equity-efficiency trade-off discussion with the technical working group, grounded in explicit numbers rather than implicit choices</a:t>
            </a:r>
            <a:endParaRPr lang="en-US" sz="1600" dirty="0"/>
          </a:p>
        </p:txBody>
      </p:sp>
      <p:sp>
        <p:nvSpPr>
          <p:cNvPr id="5" name="Text 3"/>
          <p:cNvSpPr/>
          <p:nvPr/>
        </p:nvSpPr>
        <p:spPr>
          <a:xfrm>
            <a:off x="548640" y="6473952"/>
            <a:ext cx="7315200" cy="274320"/>
          </a:xfrm>
          <a:prstGeom prst="rect">
            <a:avLst/>
          </a:prstGeom>
          <a:noFill/>
          <a:ln/>
        </p:spPr>
        <p:txBody>
          <a:bodyPr wrap="square" rtlCol="0" anchor="ctr"/>
          <a:lstStyle/>
          <a:p>
            <a:pPr algn="l" indent="0" marL="0">
              <a:buNone/>
            </a:pPr>
            <a:r>
              <a:rPr lang="en-US" sz="900" dirty="0">
                <a:solidFill>
                  <a:srgbClr val="7C797C"/>
                </a:solidFill>
                <a:latin typeface="Arial" pitchFamily="34" charset="0"/>
                <a:ea typeface="Arial" pitchFamily="34" charset="-122"/>
                <a:cs typeface="Arial" pitchFamily="34" charset="-120"/>
              </a:rPr>
              <a:t>LISER  |  EasyHealth WP3  -  Senegal HBP</a:t>
            </a:r>
            <a:endParaRPr lang="en-US" sz="900" dirty="0"/>
          </a:p>
        </p:txBody>
      </p:sp>
      <p:sp>
        <p:nvSpPr>
          <p:cNvPr id="6" name="Text 4"/>
          <p:cNvSpPr/>
          <p:nvPr/>
        </p:nvSpPr>
        <p:spPr>
          <a:xfrm>
            <a:off x="11094415" y="6473952"/>
            <a:ext cx="548640" cy="274320"/>
          </a:xfrm>
          <a:prstGeom prst="rect">
            <a:avLst/>
          </a:prstGeom>
          <a:noFill/>
          <a:ln/>
        </p:spPr>
        <p:txBody>
          <a:bodyPr wrap="square" rtlCol="0" anchor="ctr"/>
          <a:lstStyle/>
          <a:p>
            <a:pPr algn="r" indent="0" marL="0">
              <a:buNone/>
            </a:pPr>
            <a:r>
              <a:rPr lang="en-US" sz="900" dirty="0">
                <a:solidFill>
                  <a:srgbClr val="7C797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66"/>
        </a:solidFill>
      </p:bgPr>
    </p:bg>
    <p:spTree>
      <p:nvGrpSpPr>
        <p:cNvPr id="1" name=""/>
        <p:cNvGrpSpPr/>
        <p:nvPr/>
      </p:nvGrpSpPr>
      <p:grpSpPr>
        <a:xfrm>
          <a:off x="0" y="0"/>
          <a:ext cx="0" cy="0"/>
          <a:chOff x="0" y="0"/>
          <a:chExt cx="0" cy="0"/>
        </a:xfrm>
      </p:grpSpPr>
      <p:sp>
        <p:nvSpPr>
          <p:cNvPr id="2" name="Text 0"/>
          <p:cNvSpPr/>
          <p:nvPr/>
        </p:nvSpPr>
        <p:spPr>
          <a:xfrm>
            <a:off x="548640" y="2468880"/>
            <a:ext cx="11094415" cy="1097280"/>
          </a:xfrm>
          <a:prstGeom prst="rect">
            <a:avLst/>
          </a:prstGeom>
          <a:noFill/>
          <a:ln/>
        </p:spPr>
        <p:txBody>
          <a:bodyPr wrap="square"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3" name="Text 1"/>
          <p:cNvSpPr/>
          <p:nvPr/>
        </p:nvSpPr>
        <p:spPr>
          <a:xfrm>
            <a:off x="548640" y="3520440"/>
            <a:ext cx="11094415" cy="640080"/>
          </a:xfrm>
          <a:prstGeom prst="rect">
            <a:avLst/>
          </a:prstGeom>
          <a:noFill/>
          <a:ln/>
        </p:spPr>
        <p:txBody>
          <a:bodyPr wrap="square" rtlCol="0" anchor="ctr"/>
          <a:lstStyle/>
          <a:p>
            <a:pPr algn="l" indent="0" marL="0">
              <a:buNone/>
            </a:pPr>
            <a:r>
              <a:rPr lang="en-US" sz="2000" dirty="0">
                <a:solidFill>
                  <a:srgbClr val="0099FF"/>
                </a:solidFill>
                <a:latin typeface="Arial" pitchFamily="34" charset="0"/>
                <a:ea typeface="Arial" pitchFamily="34" charset="-122"/>
                <a:cs typeface="Arial" pitchFamily="34" charset="-120"/>
              </a:rPr>
              <a:t>Questions and discussion</a:t>
            </a:r>
            <a:endParaRPr lang="en-US" sz="2000" dirty="0"/>
          </a:p>
        </p:txBody>
      </p:sp>
      <p:sp>
        <p:nvSpPr>
          <p:cNvPr id="4" name="Text 2"/>
          <p:cNvSpPr/>
          <p:nvPr/>
        </p:nvSpPr>
        <p:spPr>
          <a:xfrm>
            <a:off x="548640" y="5852160"/>
            <a:ext cx="7315200" cy="365760"/>
          </a:xfrm>
          <a:prstGeom prst="rect">
            <a:avLst/>
          </a:prstGeom>
          <a:noFill/>
          <a:ln/>
        </p:spPr>
        <p:txBody>
          <a:bodyPr wrap="square" rtlCol="0" anchor="ctr"/>
          <a:lstStyle/>
          <a:p>
            <a:pPr algn="l" indent="0" marL="0">
              <a:buNone/>
            </a:pPr>
            <a:r>
              <a:rPr lang="en-US" sz="1300" dirty="0">
                <a:solidFill>
                  <a:srgbClr val="CCC6E0"/>
                </a:solidFill>
                <a:latin typeface="Arial" pitchFamily="34" charset="0"/>
                <a:ea typeface="Arial" pitchFamily="34" charset="-122"/>
                <a:cs typeface="Arial" pitchFamily="34" charset="-120"/>
              </a:rPr>
              <a:t>EasyHealth WP3  |  LISER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LISER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Defining the Health Benefits Package in Senegal</dc:title>
  <dc:subject>PptxGenJS Presentation</dc:subject>
  <dc:creator>LISER</dc:creator>
  <cp:lastModifiedBy>LISER</cp:lastModifiedBy>
  <cp:revision>1</cp:revision>
  <dcterms:created xsi:type="dcterms:W3CDTF">2026-09-09T20:32:01Z</dcterms:created>
  <dcterms:modified xsi:type="dcterms:W3CDTF">2026-09-09T20:32:01Z</dcterms:modified>
</cp:coreProperties>
</file>